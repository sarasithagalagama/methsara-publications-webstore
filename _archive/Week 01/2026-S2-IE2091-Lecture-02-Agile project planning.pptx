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44"/>
  </p:notesMasterIdLst>
  <p:sldIdLst>
    <p:sldId id="263" r:id="rId2"/>
    <p:sldId id="262" r:id="rId3"/>
    <p:sldId id="288" r:id="rId4"/>
    <p:sldId id="349" r:id="rId5"/>
    <p:sldId id="289" r:id="rId6"/>
    <p:sldId id="290" r:id="rId7"/>
    <p:sldId id="309" r:id="rId8"/>
    <p:sldId id="310" r:id="rId9"/>
    <p:sldId id="311" r:id="rId10"/>
    <p:sldId id="293" r:id="rId11"/>
    <p:sldId id="313" r:id="rId12"/>
    <p:sldId id="325" r:id="rId13"/>
    <p:sldId id="329" r:id="rId14"/>
    <p:sldId id="315" r:id="rId15"/>
    <p:sldId id="314" r:id="rId16"/>
    <p:sldId id="316" r:id="rId17"/>
    <p:sldId id="317" r:id="rId18"/>
    <p:sldId id="331" r:id="rId19"/>
    <p:sldId id="319" r:id="rId20"/>
    <p:sldId id="318" r:id="rId21"/>
    <p:sldId id="332" r:id="rId22"/>
    <p:sldId id="334" r:id="rId23"/>
    <p:sldId id="320" r:id="rId24"/>
    <p:sldId id="321" r:id="rId25"/>
    <p:sldId id="322" r:id="rId26"/>
    <p:sldId id="323" r:id="rId27"/>
    <p:sldId id="324" r:id="rId28"/>
    <p:sldId id="326" r:id="rId29"/>
    <p:sldId id="285" r:id="rId30"/>
    <p:sldId id="350" r:id="rId31"/>
    <p:sldId id="327" r:id="rId32"/>
    <p:sldId id="335" r:id="rId33"/>
    <p:sldId id="337" r:id="rId34"/>
    <p:sldId id="338" r:id="rId35"/>
    <p:sldId id="339" r:id="rId36"/>
    <p:sldId id="340" r:id="rId37"/>
    <p:sldId id="345" r:id="rId38"/>
    <p:sldId id="341" r:id="rId39"/>
    <p:sldId id="344" r:id="rId40"/>
    <p:sldId id="342" r:id="rId41"/>
    <p:sldId id="346" r:id="rId42"/>
    <p:sldId id="348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2D67"/>
    <a:srgbClr val="E7E7E7"/>
    <a:srgbClr val="000099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1B21CD-A9A1-464E-951D-F53B68EF8D2D}" type="datetimeFigureOut">
              <a:rPr lang="en-US" smtClean="0"/>
              <a:t>1/28/2026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BFD66F-6B96-4F2D-A441-69AD44D5560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51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BFD66F-6B96-4F2D-A441-69AD44D5560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26253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53873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786151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832057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728353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377121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>
          <a:extLst>
            <a:ext uri="{FF2B5EF4-FFF2-40B4-BE49-F238E27FC236}">
              <a16:creationId xmlns:a16="http://schemas.microsoft.com/office/drawing/2014/main" id="{A537942A-0E4F-EBFC-5EC5-B924F6440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:notes">
            <a:extLst>
              <a:ext uri="{FF2B5EF4-FFF2-40B4-BE49-F238E27FC236}">
                <a16:creationId xmlns:a16="http://schemas.microsoft.com/office/drawing/2014/main" id="{AA802AE0-1A8D-AB30-5488-730404774A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p:notes">
            <a:extLst>
              <a:ext uri="{FF2B5EF4-FFF2-40B4-BE49-F238E27FC236}">
                <a16:creationId xmlns:a16="http://schemas.microsoft.com/office/drawing/2014/main" id="{CBCA58B0-9D48-E94D-0D0B-FE034307C9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362077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646633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282212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26165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665662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>
          <a:extLst>
            <a:ext uri="{FF2B5EF4-FFF2-40B4-BE49-F238E27FC236}">
              <a16:creationId xmlns:a16="http://schemas.microsoft.com/office/drawing/2014/main" id="{949B1611-DDED-24F0-0E89-E3AD04F46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:notes">
            <a:extLst>
              <a:ext uri="{FF2B5EF4-FFF2-40B4-BE49-F238E27FC236}">
                <a16:creationId xmlns:a16="http://schemas.microsoft.com/office/drawing/2014/main" id="{1167FC44-C1A8-525D-95D4-16B778D096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p:notes">
            <a:extLst>
              <a:ext uri="{FF2B5EF4-FFF2-40B4-BE49-F238E27FC236}">
                <a16:creationId xmlns:a16="http://schemas.microsoft.com/office/drawing/2014/main" id="{AB948EC1-5AC4-7801-DFE5-62A5FD0660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14059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779082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371791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>
          <a:extLst>
            <a:ext uri="{FF2B5EF4-FFF2-40B4-BE49-F238E27FC236}">
              <a16:creationId xmlns:a16="http://schemas.microsoft.com/office/drawing/2014/main" id="{7E918430-DAD7-D732-9A89-A623FD104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:notes">
            <a:extLst>
              <a:ext uri="{FF2B5EF4-FFF2-40B4-BE49-F238E27FC236}">
                <a16:creationId xmlns:a16="http://schemas.microsoft.com/office/drawing/2014/main" id="{83299F38-8422-F659-87E9-2DE6E226EC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p:notes">
            <a:extLst>
              <a:ext uri="{FF2B5EF4-FFF2-40B4-BE49-F238E27FC236}">
                <a16:creationId xmlns:a16="http://schemas.microsoft.com/office/drawing/2014/main" id="{79A8CC5C-2C5E-D262-F3BD-EDD37D5C4C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425880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>
          <a:extLst>
            <a:ext uri="{FF2B5EF4-FFF2-40B4-BE49-F238E27FC236}">
              <a16:creationId xmlns:a16="http://schemas.microsoft.com/office/drawing/2014/main" id="{744E10E6-F6E2-5ADF-BD91-4F701E39B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:notes">
            <a:extLst>
              <a:ext uri="{FF2B5EF4-FFF2-40B4-BE49-F238E27FC236}">
                <a16:creationId xmlns:a16="http://schemas.microsoft.com/office/drawing/2014/main" id="{2E0F3150-22DE-07C8-7DF5-166D1A02EA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p:notes">
            <a:extLst>
              <a:ext uri="{FF2B5EF4-FFF2-40B4-BE49-F238E27FC236}">
                <a16:creationId xmlns:a16="http://schemas.microsoft.com/office/drawing/2014/main" id="{20F8804E-10AA-B5A3-4120-956F57590A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376319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299480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181118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832737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215019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14644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19528-536B-4A7F-B445-2F05909C0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EA7C75-A3E3-47FD-AFC1-5FEB5746F6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5471D-285B-4994-B2D3-AE4C0A76F35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0967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0F1E5-EBB7-45BB-9C1F-845600526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D423C-9755-4022-9EC1-13EAE458A8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18919-C0EE-4C9D-B241-52CF7B85AD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75C3D-08FC-4CA3-BF9B-26E6966B9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F149E-CB03-4968-9F8D-E21A5F13D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0975" y="6492875"/>
            <a:ext cx="685800" cy="365125"/>
          </a:xfrm>
          <a:prstGeom prst="rect">
            <a:avLst/>
          </a:prstGeom>
        </p:spPr>
        <p:txBody>
          <a:bodyPr/>
          <a:lstStyle/>
          <a:p>
            <a:fld id="{2F15471D-285B-4994-B2D3-AE4C0A76F3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694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814D0-7DDB-42D5-A81A-DDEB863E9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95011-5D03-4553-BC12-E141F30F42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AE1165-BD82-4464-9D62-AC8AAF4D9E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3736-556B-48B6-8FD6-3D89138199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CEA7D2-0405-4863-AB48-3CD42F04F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F48288-4E12-4793-BADD-021309973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9074" y="6480175"/>
            <a:ext cx="542925" cy="365125"/>
          </a:xfrm>
          <a:prstGeom prst="rect">
            <a:avLst/>
          </a:prstGeom>
        </p:spPr>
        <p:txBody>
          <a:bodyPr/>
          <a:lstStyle/>
          <a:p>
            <a:fld id="{2F15471D-285B-4994-B2D3-AE4C0A76F3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933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A048B-6501-4B63-A660-F8FA03B23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B930C1-3E09-40B4-AEB6-5015B716E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D8DF32-23F1-4C91-A14E-F454E4666B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A80EB8-4E4D-410C-BCCA-AC6CE58705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003DB9-C272-4441-B864-AF221F5F64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6C7F59-0FAE-4464-941D-001CB0ECA5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844FC0-8A34-40F8-B1D4-E979E6AD1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9AB411-9F26-4E61-90ED-FCBBCEBF1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9075" y="6492875"/>
            <a:ext cx="542925" cy="365125"/>
          </a:xfrm>
          <a:prstGeom prst="rect">
            <a:avLst/>
          </a:prstGeom>
        </p:spPr>
        <p:txBody>
          <a:bodyPr/>
          <a:lstStyle/>
          <a:p>
            <a:fld id="{2F15471D-285B-4994-B2D3-AE4C0A76F3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2885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B9ADA-DDE6-4B66-AAFE-25330365C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3D0416-D862-4B35-AF0E-D1535D96F0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4D02B6-5ED7-49A8-B1FB-08D9B6EDC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6257EC-8B5E-409F-BF2B-FCE4B6DCB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6225" y="6486525"/>
            <a:ext cx="485775" cy="365125"/>
          </a:xfrm>
          <a:prstGeom prst="rect">
            <a:avLst/>
          </a:prstGeom>
        </p:spPr>
        <p:txBody>
          <a:bodyPr/>
          <a:lstStyle/>
          <a:p>
            <a:fld id="{2F15471D-285B-4994-B2D3-AE4C0A76F3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865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C0758E-64A8-447E-A8C5-D40DE45441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44F5AF-A0AF-4850-89AA-0C3618318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8D5F61-EA6D-4080-A0AC-9F138212C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9075" y="6492875"/>
            <a:ext cx="542925" cy="365125"/>
          </a:xfrm>
          <a:prstGeom prst="rect">
            <a:avLst/>
          </a:prstGeom>
        </p:spPr>
        <p:txBody>
          <a:bodyPr/>
          <a:lstStyle/>
          <a:p>
            <a:fld id="{2F15471D-285B-4994-B2D3-AE4C0A76F3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140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8888E-92A3-48D7-9255-C8A3E1AC2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29A0F-F320-46BC-87B6-F00EE53F8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3E2348-D5F6-44A8-8BFF-EA1F386A3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F9EBFC-0D12-42E1-9ACA-C00CFC2B90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C0E193-36D9-4DF2-8576-73A4CE97D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173F56-A304-4702-B118-233868255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6700" y="6477000"/>
            <a:ext cx="495300" cy="365125"/>
          </a:xfrm>
          <a:prstGeom prst="rect">
            <a:avLst/>
          </a:prstGeom>
        </p:spPr>
        <p:txBody>
          <a:bodyPr/>
          <a:lstStyle/>
          <a:p>
            <a:fld id="{2F15471D-285B-4994-B2D3-AE4C0A76F3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820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8F0BB-839B-4B43-9364-EBED1624D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E68A08-4859-49E0-8A40-86DD3CC79F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6E7ED8-B7F3-4232-8859-8F0879E6B5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038449-F325-467E-9F7A-263F658931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601357-69CC-45CB-91E4-D04827B13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7B5E4D-5FFC-4AE9-BB18-49A639F77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0025" y="6492875"/>
            <a:ext cx="561975" cy="365125"/>
          </a:xfrm>
          <a:prstGeom prst="rect">
            <a:avLst/>
          </a:prstGeom>
        </p:spPr>
        <p:txBody>
          <a:bodyPr/>
          <a:lstStyle/>
          <a:p>
            <a:fld id="{2F15471D-285B-4994-B2D3-AE4C0A76F3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366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87F97-F296-40AF-BA5B-9BCB6FC63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545FA4-208D-4385-A5C5-BB5A549945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0CD484-9504-42F5-8893-E042C70238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6A2EB-96C4-473C-AA9C-FC733BE8B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3B55C-B642-4AE1-8704-DFEA9FA28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8600" y="6492875"/>
            <a:ext cx="533400" cy="365125"/>
          </a:xfrm>
          <a:prstGeom prst="rect">
            <a:avLst/>
          </a:prstGeom>
        </p:spPr>
        <p:txBody>
          <a:bodyPr/>
          <a:lstStyle/>
          <a:p>
            <a:fld id="{2F15471D-285B-4994-B2D3-AE4C0A76F3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4292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068FB9-0A69-432F-8804-5A8E8770A5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1B7E20-52A3-4620-92EB-B8ECF12416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98142F-CC06-46DA-A0B5-52E4D96745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9E8AA-A526-4552-94BD-F7633CAB3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FCA180-3629-4EA0-A1A0-89FD46C69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7175" y="6492875"/>
            <a:ext cx="504825" cy="365125"/>
          </a:xfrm>
          <a:prstGeom prst="rect">
            <a:avLst/>
          </a:prstGeom>
        </p:spPr>
        <p:txBody>
          <a:bodyPr/>
          <a:lstStyle/>
          <a:p>
            <a:fld id="{2F15471D-285B-4994-B2D3-AE4C0A76F3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861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609600" y="807467"/>
            <a:ext cx="7521200" cy="144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609600" y="2661000"/>
            <a:ext cx="7521200" cy="352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57189">
              <a:spcBef>
                <a:spcPts val="800"/>
              </a:spcBef>
              <a:spcAft>
                <a:spcPts val="0"/>
              </a:spcAft>
              <a:buSzPts val="1800"/>
              <a:buChar char="▸"/>
              <a:defRPr/>
            </a:lvl1pPr>
            <a:lvl2pPr marL="1219170" lvl="1" indent="-457189">
              <a:spcBef>
                <a:spcPts val="800"/>
              </a:spcBef>
              <a:spcAft>
                <a:spcPts val="0"/>
              </a:spcAft>
              <a:buSzPts val="1800"/>
              <a:buChar char="▹"/>
              <a:defRPr/>
            </a:lvl2pPr>
            <a:lvl3pPr marL="1828754" lvl="2" indent="-457189">
              <a:spcBef>
                <a:spcPts val="800"/>
              </a:spcBef>
              <a:spcAft>
                <a:spcPts val="0"/>
              </a:spcAft>
              <a:buSzPts val="1800"/>
              <a:buChar char="▹"/>
              <a:defRPr/>
            </a:lvl3pPr>
            <a:lvl4pPr marL="2438339" lvl="3" indent="-474121">
              <a:spcBef>
                <a:spcPts val="800"/>
              </a:spcBef>
              <a:spcAft>
                <a:spcPts val="0"/>
              </a:spcAft>
              <a:buSzPts val="2000"/>
              <a:buChar char="▹"/>
              <a:defRPr/>
            </a:lvl4pPr>
            <a:lvl5pPr marL="3047924" lvl="4" indent="-474121">
              <a:spcBef>
                <a:spcPts val="800"/>
              </a:spcBef>
              <a:spcAft>
                <a:spcPts val="0"/>
              </a:spcAft>
              <a:buSzPts val="2000"/>
              <a:buChar char="▹"/>
              <a:defRPr/>
            </a:lvl5pPr>
            <a:lvl6pPr marL="3657509" lvl="5" indent="-474121">
              <a:spcBef>
                <a:spcPts val="800"/>
              </a:spcBef>
              <a:spcAft>
                <a:spcPts val="0"/>
              </a:spcAft>
              <a:buSzPts val="2000"/>
              <a:buChar char="▹"/>
              <a:defRPr/>
            </a:lvl6pPr>
            <a:lvl7pPr marL="4267093" lvl="6" indent="-474121">
              <a:spcBef>
                <a:spcPts val="800"/>
              </a:spcBef>
              <a:spcAft>
                <a:spcPts val="0"/>
              </a:spcAft>
              <a:buSzPts val="2000"/>
              <a:buChar char="▹"/>
              <a:defRPr/>
            </a:lvl7pPr>
            <a:lvl8pPr marL="4876678" lvl="7" indent="-474121">
              <a:spcBef>
                <a:spcPts val="800"/>
              </a:spcBef>
              <a:spcAft>
                <a:spcPts val="0"/>
              </a:spcAft>
              <a:buSzPts val="2000"/>
              <a:buChar char="▹"/>
              <a:defRPr/>
            </a:lvl8pPr>
            <a:lvl9pPr marL="5486263" lvl="8" indent="-474121">
              <a:spcBef>
                <a:spcPts val="800"/>
              </a:spcBef>
              <a:spcAft>
                <a:spcPts val="0"/>
              </a:spcAft>
              <a:buSzPts val="2000"/>
              <a:buChar char="▹"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532033" y="6182333"/>
            <a:ext cx="609200" cy="624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" smtClean="0"/>
              <a:pPr algn="r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74218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993D86-986D-48DD-BEF8-4580EB8AB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39BC7B-4139-4704-A0A6-C761D022B6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 descr="A picture containing icon&#10;&#10;Description automatically generated">
            <a:extLst>
              <a:ext uri="{FF2B5EF4-FFF2-40B4-BE49-F238E27FC236}">
                <a16:creationId xmlns:a16="http://schemas.microsoft.com/office/drawing/2014/main" id="{0724C7D5-1C80-4CD2-92FC-6D506574B65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5637"/>
            <a:ext cx="3458058" cy="714475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6AD34E7-FAEB-4975-88D0-AB25D72606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1449" y="6492875"/>
            <a:ext cx="504825" cy="3572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F15471D-285B-4994-B2D3-AE4C0A76F3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9A6137-BE3C-41EC-A2C9-AAD55CB76879}"/>
              </a:ext>
            </a:extLst>
          </p:cNvPr>
          <p:cNvSpPr/>
          <p:nvPr userDrawn="1"/>
        </p:nvSpPr>
        <p:spPr>
          <a:xfrm>
            <a:off x="3471302" y="6457950"/>
            <a:ext cx="8682597" cy="365125"/>
          </a:xfrm>
          <a:prstGeom prst="rect">
            <a:avLst/>
          </a:prstGeom>
          <a:solidFill>
            <a:srgbClr val="252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IE2091 | Information Systems Project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D0786B-381C-736E-3097-CB457BE1482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4954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8000">
                    <a:alpha val="50000"/>
                  </a:srgbClr>
                </a:solidFill>
                <a:latin typeface="Aptos" panose="020B0004020202020204" pitchFamily="34" charset="0"/>
              </a:rPr>
              <a:t>Classification: Public-SLIIT</a:t>
            </a:r>
          </a:p>
        </p:txBody>
      </p:sp>
    </p:spTree>
    <p:extLst>
      <p:ext uri="{BB962C8B-B14F-4D97-AF65-F5344CB8AC3E}">
        <p14:creationId xmlns:p14="http://schemas.microsoft.com/office/powerpoint/2010/main" val="1146567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2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1.jp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lamy.com/stock-photo-happy-creative-team-with-papers-in-office-137903885.html" TargetMode="External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ctofigo.com/image-detail/11490/Backlog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ctofigo.com/image-detail/11490/Backlog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ctofigo.com/image-detail/11490/Backlog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ctofigo.com/image-detail/11490/Backlog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s://scrumguides.org/docs/scrumguide/v2020/2020-Scrum-Guide-US.pdf#zoom=100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" y="-1"/>
            <a:ext cx="12192000" cy="5257801"/>
          </a:xfrm>
          <a:prstGeom prst="rect">
            <a:avLst/>
          </a:prstGeom>
          <a:solidFill>
            <a:srgbClr val="1E2E74"/>
          </a:solidFill>
        </p:spPr>
        <p:txBody>
          <a:bodyPr/>
          <a:lstStyle/>
          <a:p>
            <a:endParaRPr lang="x-none" sz="1200" dirty="0"/>
          </a:p>
        </p:txBody>
      </p:sp>
      <p:grpSp>
        <p:nvGrpSpPr>
          <p:cNvPr id="7" name="Group 7"/>
          <p:cNvGrpSpPr/>
          <p:nvPr/>
        </p:nvGrpSpPr>
        <p:grpSpPr>
          <a:xfrm>
            <a:off x="4255464" y="807401"/>
            <a:ext cx="7936536" cy="4647287"/>
            <a:chOff x="-3032181" y="-47625"/>
            <a:chExt cx="16461915" cy="9294573"/>
          </a:xfrm>
        </p:grpSpPr>
        <p:sp>
          <p:nvSpPr>
            <p:cNvPr id="8" name="TextBox 8"/>
            <p:cNvSpPr txBox="1"/>
            <p:nvPr/>
          </p:nvSpPr>
          <p:spPr>
            <a:xfrm>
              <a:off x="0" y="1207437"/>
              <a:ext cx="13429734" cy="2331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1663"/>
                </a:lnSpc>
              </a:pPr>
              <a:endParaRPr sz="1200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-3032181" y="7538836"/>
              <a:ext cx="13429734" cy="7713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99"/>
                </a:lnSpc>
              </a:pPr>
              <a:r>
                <a:rPr lang="en-US" sz="2933" b="1" spc="257" dirty="0">
                  <a:solidFill>
                    <a:srgbClr val="FFFFFF"/>
                  </a:solidFill>
                  <a:latin typeface="Open Sans Bold" panose="020B0806030504020204" pitchFamily="34" charset="0"/>
                  <a:ea typeface="Open Sans Bold" panose="020B0806030504020204" pitchFamily="34" charset="0"/>
                  <a:cs typeface="Open Sans Bold" panose="020B0806030504020204" pitchFamily="34" charset="0"/>
                </a:rPr>
                <a:t>Mrs. Narmada Gamage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8703978"/>
              <a:ext cx="13429734" cy="5429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380"/>
                </a:lnSpc>
              </a:pPr>
              <a:endParaRPr sz="1200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3429734" cy="4467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888"/>
                </a:lnSpc>
              </a:pPr>
              <a:endParaRPr sz="1200" dirty="0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255464" y="727500"/>
            <a:ext cx="7788420" cy="2498171"/>
            <a:chOff x="-12066" y="-757263"/>
            <a:chExt cx="13257466" cy="4996344"/>
          </a:xfrm>
        </p:grpSpPr>
        <p:sp>
          <p:nvSpPr>
            <p:cNvPr id="13" name="TextBox 13"/>
            <p:cNvSpPr txBox="1"/>
            <p:nvPr/>
          </p:nvSpPr>
          <p:spPr>
            <a:xfrm>
              <a:off x="-12066" y="-757263"/>
              <a:ext cx="13257466" cy="336835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4000" b="1" dirty="0">
                  <a:solidFill>
                    <a:schemeClr val="bg1"/>
                  </a:solidFill>
                  <a:latin typeface="Open Sans Bold" panose="020B0806030504020204" pitchFamily="34" charset="0"/>
                  <a:ea typeface="Open Sans Bold" panose="020B0806030504020204" pitchFamily="34" charset="0"/>
                  <a:cs typeface="Open Sans Bold" panose="020B0806030504020204" pitchFamily="34" charset="0"/>
                </a:rPr>
                <a:t>IE2091</a:t>
              </a:r>
            </a:p>
            <a:p>
              <a:r>
                <a:rPr lang="en-US" sz="2933" b="1" spc="58" dirty="0">
                  <a:solidFill>
                    <a:schemeClr val="bg1"/>
                  </a:solidFill>
                  <a:latin typeface="Open Sans Bold" panose="020B0806030504020204" pitchFamily="34" charset="0"/>
                  <a:ea typeface="Open Sans Bold" panose="020B0806030504020204" pitchFamily="34" charset="0"/>
                  <a:cs typeface="Open Sans Bold" panose="020B0806030504020204" pitchFamily="34" charset="0"/>
                </a:rPr>
                <a:t>Information Systems Project</a:t>
              </a:r>
            </a:p>
            <a:p>
              <a:pPr>
                <a:lnSpc>
                  <a:spcPts val="5547"/>
                </a:lnSpc>
              </a:pPr>
              <a:endParaRPr lang="en-US" sz="2667" spc="512" dirty="0">
                <a:solidFill>
                  <a:srgbClr val="FAFEFF"/>
                </a:solidFill>
                <a:latin typeface="Open Sans Bold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-12066" y="2433714"/>
              <a:ext cx="11760173" cy="18053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US" sz="2933" b="1" spc="58" dirty="0">
                  <a:solidFill>
                    <a:srgbClr val="E87932"/>
                  </a:solidFill>
                  <a:latin typeface="Open Sans Bold" panose="020B0806030504020204" pitchFamily="34" charset="0"/>
                  <a:ea typeface="Open Sans Bold" panose="020B0806030504020204" pitchFamily="34" charset="0"/>
                  <a:cs typeface="Open Sans Bold" panose="020B0806030504020204" pitchFamily="34" charset="0"/>
                </a:rPr>
                <a:t>Lecture 02</a:t>
              </a:r>
            </a:p>
            <a:p>
              <a:r>
                <a:rPr lang="en-US" sz="2933" b="1" spc="58" dirty="0">
                  <a:solidFill>
                    <a:srgbClr val="FFC000"/>
                  </a:solidFill>
                  <a:latin typeface="Open Sans Bold" panose="020B0806030504020204" pitchFamily="34" charset="0"/>
                  <a:ea typeface="Open Sans Bold" panose="020B0806030504020204" pitchFamily="34" charset="0"/>
                  <a:cs typeface="Open Sans Bold" panose="020B0806030504020204" pitchFamily="34" charset="0"/>
                </a:rPr>
                <a:t>Agile Project Plan Preparation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4216400" y="5410200"/>
            <a:ext cx="3958117" cy="12704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933" b="1" spc="128" dirty="0">
                <a:solidFill>
                  <a:srgbClr val="000077"/>
                </a:solidFill>
                <a:latin typeface="Albertus" panose="020E0702040304020204" pitchFamily="34" charset="0"/>
              </a:rPr>
              <a:t>Faculty of Computing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F1576C-6CA6-49B4-B570-85A8EE5385C0}"/>
              </a:ext>
            </a:extLst>
          </p:cNvPr>
          <p:cNvSpPr/>
          <p:nvPr/>
        </p:nvSpPr>
        <p:spPr>
          <a:xfrm>
            <a:off x="-1" y="310021"/>
            <a:ext cx="12191999" cy="192600"/>
          </a:xfrm>
          <a:prstGeom prst="rect">
            <a:avLst/>
          </a:prstGeom>
          <a:solidFill>
            <a:srgbClr val="E87932"/>
          </a:solidFill>
          <a:ln>
            <a:solidFill>
              <a:srgbClr val="E87932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pic>
        <p:nvPicPr>
          <p:cNvPr id="19" name="Picture 18" descr="A picture containing dark, sitting, clock&#10;&#10;Description automatically generated">
            <a:extLst>
              <a:ext uri="{FF2B5EF4-FFF2-40B4-BE49-F238E27FC236}">
                <a16:creationId xmlns:a16="http://schemas.microsoft.com/office/drawing/2014/main" id="{E0EF3673-3796-4D2F-BCAB-8972ECDD543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1" y="5364294"/>
            <a:ext cx="3661883" cy="1401815"/>
          </a:xfrm>
          <a:prstGeom prst="rect">
            <a:avLst/>
          </a:prstGeom>
        </p:spPr>
      </p:pic>
      <p:pic>
        <p:nvPicPr>
          <p:cNvPr id="6" name="Picture 5" descr="A person in a white dress&#10;&#10;Description automatically generated with medium confidence">
            <a:extLst>
              <a:ext uri="{FF2B5EF4-FFF2-40B4-BE49-F238E27FC236}">
                <a16:creationId xmlns:a16="http://schemas.microsoft.com/office/drawing/2014/main" id="{43DAA532-8C4A-65DB-D659-869AB3AEB8C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2277" y="857853"/>
            <a:ext cx="3543588" cy="4724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033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E4E7FAD-2B93-48F5-9691-ADBEF7875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Session Objectives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01CB2A-A0BE-41B3-8B52-39C51038D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By the end of this session, students will be able to:</a:t>
            </a:r>
          </a:p>
          <a:p>
            <a:r>
              <a:rPr lang="en-US" dirty="0"/>
              <a:t>Develop a Product Vision Statement</a:t>
            </a:r>
          </a:p>
          <a:p>
            <a:r>
              <a:rPr lang="en-US" dirty="0"/>
              <a:t>Create an initial Product Backlog using Epics and User Stories</a:t>
            </a:r>
          </a:p>
          <a:p>
            <a:r>
              <a:rPr lang="en-US" dirty="0"/>
              <a:t>Define a suitable Definition of Done (DoD)</a:t>
            </a:r>
          </a:p>
          <a:p>
            <a:r>
              <a:rPr lang="en-US" dirty="0"/>
              <a:t>Prepare Agile-based project planning artifacts for Sprint 0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4EA5FD-D9D1-4837-BA90-A457B2E92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5471D-285B-4994-B2D3-AE4C0A76F354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8912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AE942-4836-C829-EF31-87968A7B3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SCRUM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85A7A-7670-5C4C-1441-40B19B638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/>
              <a:t>“An agile framework that allows us to focus on delivering the highest business value in the shortest time”    </a:t>
            </a:r>
            <a:r>
              <a:rPr lang="en-US" dirty="0"/>
              <a:t>-Mike Cohn</a:t>
            </a:r>
          </a:p>
          <a:p>
            <a:pPr lvl="1"/>
            <a:r>
              <a:rPr lang="en-US" sz="3200" dirty="0"/>
              <a:t>The fastest growing approach to software development</a:t>
            </a:r>
          </a:p>
          <a:p>
            <a:pPr lvl="1"/>
            <a:r>
              <a:rPr lang="en-US" sz="3200" dirty="0"/>
              <a:t>Used by many fortune 100 companies</a:t>
            </a:r>
          </a:p>
          <a:p>
            <a:pPr lvl="1"/>
            <a:r>
              <a:rPr lang="en-US" sz="3200" dirty="0"/>
              <a:t>Google, Microsoft, Sun, IBM, Nokia, HP, Infosys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D9610F-FD5C-4262-94A8-CC98E3625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5471D-285B-4994-B2D3-AE4C0A76F354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6448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C0800-2750-1BE9-F1F6-FF1F6CB62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C3D49-572B-CCD8-672B-F8B3F4719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82683"/>
            <a:ext cx="12192000" cy="1325563"/>
          </a:xfrm>
          <a:solidFill>
            <a:srgbClr val="252D67"/>
          </a:solidFill>
          <a:ln>
            <a:solidFill>
              <a:srgbClr val="252D67"/>
            </a:solidFill>
          </a:ln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SCRUM Framework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0DE55D-717B-3B90-1B1F-EC35F232D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5471D-285B-4994-B2D3-AE4C0A76F354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965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78DEA-0548-6B39-A0E2-EE6A4C4A5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SCRUM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562C-4A98-96DF-9111-459102C8F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C06015-ED1E-5FEB-87C9-C3F710AAB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5471D-285B-4994-B2D3-AE4C0A76F354}" type="slidenum">
              <a:rPr lang="en-US" smtClean="0"/>
              <a:t>5</a:t>
            </a:fld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ADD7497-E241-EDB9-8EFB-3B39AD811AD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3029" y="1216024"/>
            <a:ext cx="11165942" cy="4960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607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31EA1DD-48DF-3D70-E271-148C4DC09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5257" y="240483"/>
            <a:ext cx="8615558" cy="47063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F97F682-F4E8-8F60-4407-6957FE683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AD8118-8FA0-ACD3-9385-1C3D339D3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5471D-285B-4994-B2D3-AE4C0A76F354}" type="slidenum">
              <a:rPr lang="en-US" smtClean="0"/>
              <a:t>6</a:t>
            </a:fld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F32757A-70EC-FA7F-9D3D-4428A3F2B99E}"/>
              </a:ext>
            </a:extLst>
          </p:cNvPr>
          <p:cNvGrpSpPr/>
          <p:nvPr/>
        </p:nvGrpSpPr>
        <p:grpSpPr>
          <a:xfrm>
            <a:off x="105607" y="4552552"/>
            <a:ext cx="3141591" cy="1629428"/>
            <a:chOff x="398088" y="1483964"/>
            <a:chExt cx="3141591" cy="1629428"/>
          </a:xfrm>
        </p:grpSpPr>
        <p:sp>
          <p:nvSpPr>
            <p:cNvPr id="24" name="object 7">
              <a:extLst>
                <a:ext uri="{FF2B5EF4-FFF2-40B4-BE49-F238E27FC236}">
                  <a16:creationId xmlns:a16="http://schemas.microsoft.com/office/drawing/2014/main" id="{C50D210E-4A03-F88D-3AB9-8EF032D75F35}"/>
                </a:ext>
              </a:extLst>
            </p:cNvPr>
            <p:cNvSpPr/>
            <p:nvPr/>
          </p:nvSpPr>
          <p:spPr>
            <a:xfrm>
              <a:off x="398088" y="1483964"/>
              <a:ext cx="3141591" cy="1629428"/>
            </a:xfrm>
            <a:custGeom>
              <a:avLst/>
              <a:gdLst/>
              <a:ahLst/>
              <a:cxnLst/>
              <a:rect l="l" t="t" r="r" b="b"/>
              <a:pathLst>
                <a:path w="3715385" h="1840229">
                  <a:moveTo>
                    <a:pt x="0" y="274192"/>
                  </a:moveTo>
                  <a:lnTo>
                    <a:pt x="4418" y="224919"/>
                  </a:lnTo>
                  <a:lnTo>
                    <a:pt x="17157" y="178537"/>
                  </a:lnTo>
                  <a:lnTo>
                    <a:pt x="37442" y="135824"/>
                  </a:lnTo>
                  <a:lnTo>
                    <a:pt x="64499" y="97553"/>
                  </a:lnTo>
                  <a:lnTo>
                    <a:pt x="97553" y="64502"/>
                  </a:lnTo>
                  <a:lnTo>
                    <a:pt x="135830" y="37446"/>
                  </a:lnTo>
                  <a:lnTo>
                    <a:pt x="178556" y="17159"/>
                  </a:lnTo>
                  <a:lnTo>
                    <a:pt x="224955" y="4419"/>
                  </a:lnTo>
                  <a:lnTo>
                    <a:pt x="274255" y="0"/>
                  </a:lnTo>
                  <a:lnTo>
                    <a:pt x="3440492" y="0"/>
                  </a:lnTo>
                  <a:lnTo>
                    <a:pt x="3489803" y="4419"/>
                  </a:lnTo>
                  <a:lnTo>
                    <a:pt x="3536214" y="17159"/>
                  </a:lnTo>
                  <a:lnTo>
                    <a:pt x="3578950" y="37446"/>
                  </a:lnTo>
                  <a:lnTo>
                    <a:pt x="3617236" y="64502"/>
                  </a:lnTo>
                  <a:lnTo>
                    <a:pt x="3650298" y="97553"/>
                  </a:lnTo>
                  <a:lnTo>
                    <a:pt x="3677361" y="135824"/>
                  </a:lnTo>
                  <a:lnTo>
                    <a:pt x="3697651" y="178537"/>
                  </a:lnTo>
                  <a:lnTo>
                    <a:pt x="3710392" y="224919"/>
                  </a:lnTo>
                  <a:lnTo>
                    <a:pt x="3714812" y="274192"/>
                  </a:lnTo>
                  <a:lnTo>
                    <a:pt x="3714812" y="1565910"/>
                  </a:lnTo>
                  <a:lnTo>
                    <a:pt x="3710392" y="1615221"/>
                  </a:lnTo>
                  <a:lnTo>
                    <a:pt x="3697651" y="1661632"/>
                  </a:lnTo>
                  <a:lnTo>
                    <a:pt x="3677361" y="1704368"/>
                  </a:lnTo>
                  <a:lnTo>
                    <a:pt x="3650298" y="1742654"/>
                  </a:lnTo>
                  <a:lnTo>
                    <a:pt x="3617236" y="1775716"/>
                  </a:lnTo>
                  <a:lnTo>
                    <a:pt x="3578950" y="1802779"/>
                  </a:lnTo>
                  <a:lnTo>
                    <a:pt x="3536214" y="1823068"/>
                  </a:lnTo>
                  <a:lnTo>
                    <a:pt x="3489803" y="1835810"/>
                  </a:lnTo>
                  <a:lnTo>
                    <a:pt x="3440492" y="1840229"/>
                  </a:lnTo>
                  <a:lnTo>
                    <a:pt x="274255" y="1840229"/>
                  </a:lnTo>
                  <a:lnTo>
                    <a:pt x="224955" y="1835810"/>
                  </a:lnTo>
                  <a:lnTo>
                    <a:pt x="178556" y="1823068"/>
                  </a:lnTo>
                  <a:lnTo>
                    <a:pt x="135830" y="1802779"/>
                  </a:lnTo>
                  <a:lnTo>
                    <a:pt x="97553" y="1775716"/>
                  </a:lnTo>
                  <a:lnTo>
                    <a:pt x="64499" y="1742654"/>
                  </a:lnTo>
                  <a:lnTo>
                    <a:pt x="37442" y="1704368"/>
                  </a:lnTo>
                  <a:lnTo>
                    <a:pt x="17157" y="1661632"/>
                  </a:lnTo>
                  <a:lnTo>
                    <a:pt x="4418" y="1615221"/>
                  </a:lnTo>
                  <a:lnTo>
                    <a:pt x="0" y="1565910"/>
                  </a:lnTo>
                  <a:lnTo>
                    <a:pt x="0" y="274192"/>
                  </a:lnTo>
                  <a:close/>
                </a:path>
              </a:pathLst>
            </a:custGeom>
            <a:solidFill>
              <a:schemeClr val="accent4"/>
            </a:solidFill>
            <a:ln w="25400">
              <a:solidFill>
                <a:srgbClr val="003B83"/>
              </a:solidFill>
            </a:ln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25" name="object 9">
              <a:extLst>
                <a:ext uri="{FF2B5EF4-FFF2-40B4-BE49-F238E27FC236}">
                  <a16:creationId xmlns:a16="http://schemas.microsoft.com/office/drawing/2014/main" id="{C20CD025-D3B8-A194-FBFB-BE5CC6789716}"/>
                </a:ext>
              </a:extLst>
            </p:cNvPr>
            <p:cNvSpPr/>
            <p:nvPr/>
          </p:nvSpPr>
          <p:spPr>
            <a:xfrm>
              <a:off x="409471" y="1485652"/>
              <a:ext cx="2492375" cy="537210"/>
            </a:xfrm>
            <a:custGeom>
              <a:avLst/>
              <a:gdLst/>
              <a:ahLst/>
              <a:cxnLst/>
              <a:rect l="l" t="t" r="r" b="b"/>
              <a:pathLst>
                <a:path w="2492375" h="537210">
                  <a:moveTo>
                    <a:pt x="2491803" y="125730"/>
                  </a:moveTo>
                  <a:lnTo>
                    <a:pt x="2491790" y="0"/>
                  </a:lnTo>
                  <a:lnTo>
                    <a:pt x="2148840" y="0"/>
                  </a:lnTo>
                  <a:lnTo>
                    <a:pt x="1931733" y="0"/>
                  </a:lnTo>
                  <a:lnTo>
                    <a:pt x="445770" y="0"/>
                  </a:lnTo>
                  <a:lnTo>
                    <a:pt x="434340" y="0"/>
                  </a:lnTo>
                  <a:lnTo>
                    <a:pt x="283438" y="1270"/>
                  </a:lnTo>
                  <a:lnTo>
                    <a:pt x="223850" y="7899"/>
                  </a:lnTo>
                  <a:lnTo>
                    <a:pt x="171462" y="21361"/>
                  </a:lnTo>
                  <a:lnTo>
                    <a:pt x="126199" y="41224"/>
                  </a:lnTo>
                  <a:lnTo>
                    <a:pt x="87985" y="67017"/>
                  </a:lnTo>
                  <a:lnTo>
                    <a:pt x="56769" y="98298"/>
                  </a:lnTo>
                  <a:lnTo>
                    <a:pt x="32448" y="134594"/>
                  </a:lnTo>
                  <a:lnTo>
                    <a:pt x="14973" y="175475"/>
                  </a:lnTo>
                  <a:lnTo>
                    <a:pt x="4279" y="220459"/>
                  </a:lnTo>
                  <a:lnTo>
                    <a:pt x="279" y="269113"/>
                  </a:lnTo>
                  <a:lnTo>
                    <a:pt x="190" y="308610"/>
                  </a:lnTo>
                  <a:lnTo>
                    <a:pt x="0" y="308610"/>
                  </a:lnTo>
                  <a:lnTo>
                    <a:pt x="0" y="411480"/>
                  </a:lnTo>
                  <a:lnTo>
                    <a:pt x="0" y="537210"/>
                  </a:lnTo>
                  <a:lnTo>
                    <a:pt x="434340" y="537210"/>
                  </a:lnTo>
                  <a:lnTo>
                    <a:pt x="560070" y="537210"/>
                  </a:lnTo>
                  <a:lnTo>
                    <a:pt x="2046033" y="537210"/>
                  </a:lnTo>
                  <a:lnTo>
                    <a:pt x="2148840" y="537210"/>
                  </a:lnTo>
                  <a:lnTo>
                    <a:pt x="2148840" y="536409"/>
                  </a:lnTo>
                  <a:lnTo>
                    <a:pt x="2208339" y="535940"/>
                  </a:lnTo>
                  <a:lnTo>
                    <a:pt x="2267915" y="529285"/>
                  </a:lnTo>
                  <a:lnTo>
                    <a:pt x="2320290" y="515785"/>
                  </a:lnTo>
                  <a:lnTo>
                    <a:pt x="2365540" y="495909"/>
                  </a:lnTo>
                  <a:lnTo>
                    <a:pt x="2403741" y="470103"/>
                  </a:lnTo>
                  <a:lnTo>
                    <a:pt x="2434958" y="438810"/>
                  </a:lnTo>
                  <a:lnTo>
                    <a:pt x="2459253" y="402501"/>
                  </a:lnTo>
                  <a:lnTo>
                    <a:pt x="2476716" y="361619"/>
                  </a:lnTo>
                  <a:lnTo>
                    <a:pt x="2487409" y="316636"/>
                  </a:lnTo>
                  <a:lnTo>
                    <a:pt x="2491422" y="267970"/>
                  </a:lnTo>
                  <a:lnTo>
                    <a:pt x="2491524" y="228600"/>
                  </a:lnTo>
                  <a:lnTo>
                    <a:pt x="2491790" y="228600"/>
                  </a:lnTo>
                  <a:lnTo>
                    <a:pt x="2491790" y="130479"/>
                  </a:lnTo>
                  <a:lnTo>
                    <a:pt x="2491803" y="125730"/>
                  </a:lnTo>
                  <a:close/>
                </a:path>
              </a:pathLst>
            </a:custGeom>
            <a:solidFill>
              <a:srgbClr val="003B83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26" name="object 10">
              <a:extLst>
                <a:ext uri="{FF2B5EF4-FFF2-40B4-BE49-F238E27FC236}">
                  <a16:creationId xmlns:a16="http://schemas.microsoft.com/office/drawing/2014/main" id="{ECAF095F-CC73-0D03-D808-AAA69CD519C8}"/>
                </a:ext>
              </a:extLst>
            </p:cNvPr>
            <p:cNvSpPr txBox="1"/>
            <p:nvPr/>
          </p:nvSpPr>
          <p:spPr>
            <a:xfrm>
              <a:off x="573980" y="1557435"/>
              <a:ext cx="2228850" cy="1467709"/>
            </a:xfrm>
            <a:prstGeom prst="rect">
              <a:avLst/>
            </a:prstGeom>
          </p:spPr>
          <p:txBody>
            <a:bodyPr vert="horz" wrap="square" lIns="0" tIns="43815" rIns="0" bIns="0" rtlCol="0">
              <a:spAutoFit/>
            </a:bodyPr>
            <a:lstStyle/>
            <a:p>
              <a:pPr marL="23495">
                <a:lnSpc>
                  <a:spcPct val="100000"/>
                </a:lnSpc>
                <a:spcBef>
                  <a:spcPts val="345"/>
                </a:spcBef>
              </a:pPr>
              <a:r>
                <a:rPr spc="10" dirty="0">
                  <a:solidFill>
                    <a:srgbClr val="FFFFFF"/>
                  </a:solidFill>
                  <a:latin typeface="Arial"/>
                  <a:cs typeface="Arial"/>
                </a:rPr>
                <a:t>Roles</a:t>
              </a:r>
              <a:endParaRPr dirty="0">
                <a:latin typeface="Arial"/>
                <a:cs typeface="Arial"/>
              </a:endParaRPr>
            </a:p>
            <a:p>
              <a:pPr marL="153670" indent="-141605">
                <a:lnSpc>
                  <a:spcPct val="150000"/>
                </a:lnSpc>
                <a:spcBef>
                  <a:spcPts val="250"/>
                </a:spcBef>
                <a:buSzPct val="122000"/>
                <a:buChar char="•"/>
                <a:tabLst>
                  <a:tab pos="154305" algn="l"/>
                </a:tabLst>
              </a:pPr>
              <a:r>
                <a:rPr sz="1600" spc="5" dirty="0">
                  <a:solidFill>
                    <a:srgbClr val="FFFFFF"/>
                  </a:solidFill>
                  <a:latin typeface="Arial"/>
                  <a:cs typeface="Arial"/>
                </a:rPr>
                <a:t>Product</a:t>
              </a:r>
              <a:r>
                <a:rPr sz="1600" spc="-60" dirty="0">
                  <a:solidFill>
                    <a:srgbClr val="FFFFFF"/>
                  </a:solidFill>
                  <a:latin typeface="Arial"/>
                  <a:cs typeface="Arial"/>
                </a:rPr>
                <a:t> </a:t>
              </a:r>
              <a:r>
                <a:rPr sz="1600" spc="10" dirty="0">
                  <a:solidFill>
                    <a:srgbClr val="FFFFFF"/>
                  </a:solidFill>
                  <a:latin typeface="Arial"/>
                  <a:cs typeface="Arial"/>
                </a:rPr>
                <a:t>owner</a:t>
              </a:r>
              <a:endParaRPr sz="1600" dirty="0">
                <a:latin typeface="Arial"/>
                <a:cs typeface="Arial"/>
              </a:endParaRPr>
            </a:p>
            <a:p>
              <a:pPr marL="153035" indent="-140970">
                <a:lnSpc>
                  <a:spcPct val="150000"/>
                </a:lnSpc>
                <a:buSzPct val="122000"/>
                <a:buChar char="•"/>
                <a:tabLst>
                  <a:tab pos="153670" algn="l"/>
                </a:tabLst>
              </a:pPr>
              <a:r>
                <a:rPr sz="1600" spc="10" dirty="0">
                  <a:solidFill>
                    <a:srgbClr val="FFFFFF"/>
                  </a:solidFill>
                  <a:latin typeface="Arial"/>
                  <a:cs typeface="Arial"/>
                </a:rPr>
                <a:t>Scrum</a:t>
              </a:r>
              <a:r>
                <a:rPr sz="1600" spc="-35" dirty="0">
                  <a:solidFill>
                    <a:srgbClr val="FFFFFF"/>
                  </a:solidFill>
                  <a:latin typeface="Arial"/>
                  <a:cs typeface="Arial"/>
                </a:rPr>
                <a:t> </a:t>
              </a:r>
              <a:r>
                <a:rPr sz="1600" spc="5" dirty="0">
                  <a:solidFill>
                    <a:srgbClr val="FFFFFF"/>
                  </a:solidFill>
                  <a:latin typeface="Arial"/>
                  <a:cs typeface="Arial"/>
                </a:rPr>
                <a:t>master</a:t>
              </a:r>
              <a:endParaRPr lang="en-US" sz="1600" spc="5" dirty="0">
                <a:solidFill>
                  <a:srgbClr val="FFFFFF"/>
                </a:solidFill>
                <a:latin typeface="Arial"/>
                <a:cs typeface="Arial"/>
              </a:endParaRPr>
            </a:p>
            <a:p>
              <a:pPr marL="153035" indent="-140970">
                <a:lnSpc>
                  <a:spcPct val="150000"/>
                </a:lnSpc>
                <a:buSzPct val="122000"/>
                <a:buChar char="•"/>
                <a:tabLst>
                  <a:tab pos="153670" algn="l"/>
                </a:tabLst>
              </a:pPr>
              <a:r>
                <a:rPr lang="en-US" sz="1600" spc="5" dirty="0">
                  <a:solidFill>
                    <a:srgbClr val="FFFFFF"/>
                  </a:solidFill>
                  <a:latin typeface="Arial"/>
                  <a:cs typeface="Arial"/>
                </a:rPr>
                <a:t>Team</a:t>
              </a:r>
              <a:endParaRPr sz="1600" dirty="0">
                <a:latin typeface="Arial"/>
                <a:cs typeface="Arial"/>
              </a:endParaRPr>
            </a:p>
          </p:txBody>
        </p:sp>
      </p:grp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F0242F-6295-72E8-8BC6-860A40F13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41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7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759428"/>
          </a:xfrm>
          <a:prstGeom prst="rect">
            <a:avLst/>
          </a:prstGeom>
          <a:solidFill>
            <a:srgbClr val="FFC000"/>
          </a:solidFill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br>
              <a:rPr lang="en-US" sz="4800" dirty="0">
                <a:latin typeface="Impact" panose="020B0806030902050204" pitchFamily="34" charset="0"/>
              </a:rPr>
            </a:br>
            <a:r>
              <a:rPr lang="en-US" sz="4800" b="1" dirty="0">
                <a:latin typeface="Impact" panose="020B0806030902050204" pitchFamily="34" charset="0"/>
              </a:rPr>
              <a:t>	</a:t>
            </a:r>
            <a:r>
              <a:rPr lang="en-US" b="1" dirty="0"/>
              <a:t>Product Owner</a:t>
            </a:r>
          </a:p>
        </p:txBody>
      </p:sp>
      <p:sp>
        <p:nvSpPr>
          <p:cNvPr id="595" name="Google Shape;595;p17"/>
          <p:cNvSpPr txBox="1">
            <a:spLocks noGrp="1"/>
          </p:cNvSpPr>
          <p:nvPr>
            <p:ph type="body" idx="1"/>
          </p:nvPr>
        </p:nvSpPr>
        <p:spPr>
          <a:xfrm>
            <a:off x="956520" y="1597935"/>
            <a:ext cx="10162584" cy="4328084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>
              <a:lnSpc>
                <a:spcPct val="200000"/>
              </a:lnSpc>
            </a:pPr>
            <a:r>
              <a:rPr lang="en-US" sz="2400" dirty="0">
                <a:latin typeface="Barlow" panose="020B0604020202020204" charset="0"/>
              </a:rPr>
              <a:t>1 person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Barlow" panose="020B0604020202020204" charset="0"/>
              </a:rPr>
              <a:t>Owns vision for what should be produced (Sets the direction)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Barlow" panose="020B0604020202020204" charset="0"/>
              </a:rPr>
              <a:t>Define the features that need to be included in the product backlog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Barlow" panose="020B0604020202020204" charset="0"/>
              </a:rPr>
              <a:t>Prioritize product features and adjust them in every iteration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Barlow" panose="020B0604020202020204" charset="0"/>
              </a:rPr>
              <a:t>Accept or reject the work/results</a:t>
            </a:r>
          </a:p>
          <a:p>
            <a:pPr>
              <a:lnSpc>
                <a:spcPct val="200000"/>
              </a:lnSpc>
            </a:pPr>
            <a:endParaRPr lang="en-US" sz="2400" dirty="0">
              <a:latin typeface="Barlow" panose="020B0604020202020204" charset="0"/>
            </a:endParaRPr>
          </a:p>
        </p:txBody>
      </p:sp>
      <p:sp>
        <p:nvSpPr>
          <p:cNvPr id="596" name="Google Shape;596;p1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algn="r"/>
            <a:fld id="{00000000-1234-1234-1234-123412341234}" type="slidenum">
              <a:rPr lang="en"/>
              <a:pPr algn="r"/>
              <a:t>7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18506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7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759428"/>
          </a:xfrm>
          <a:prstGeom prst="rect">
            <a:avLst/>
          </a:prstGeom>
          <a:solidFill>
            <a:srgbClr val="FFC000"/>
          </a:solidFill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br>
              <a:rPr lang="en-US" sz="4800" dirty="0">
                <a:latin typeface="Impact" panose="020B0806030902050204" pitchFamily="34" charset="0"/>
              </a:rPr>
            </a:br>
            <a:r>
              <a:rPr lang="en-US" sz="4800" b="1" dirty="0">
                <a:latin typeface="Impact" panose="020B0806030902050204" pitchFamily="34" charset="0"/>
              </a:rPr>
              <a:t>	</a:t>
            </a:r>
            <a:r>
              <a:rPr lang="en-US" b="1" dirty="0"/>
              <a:t>Scrum Master</a:t>
            </a:r>
          </a:p>
        </p:txBody>
      </p:sp>
      <p:sp>
        <p:nvSpPr>
          <p:cNvPr id="595" name="Google Shape;595;p17"/>
          <p:cNvSpPr txBox="1">
            <a:spLocks noGrp="1"/>
          </p:cNvSpPr>
          <p:nvPr>
            <p:ph type="body" idx="1"/>
          </p:nvPr>
        </p:nvSpPr>
        <p:spPr>
          <a:xfrm>
            <a:off x="956520" y="1597935"/>
            <a:ext cx="10877848" cy="4328084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>
              <a:lnSpc>
                <a:spcPct val="200000"/>
              </a:lnSpc>
            </a:pPr>
            <a:r>
              <a:rPr lang="en-US" sz="2400" dirty="0">
                <a:latin typeface="Barlow" panose="020B0604020202020204" charset="0"/>
              </a:rPr>
              <a:t>1 person- Servant leader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Barlow" panose="020B0604020202020204" charset="0"/>
              </a:rPr>
              <a:t>Ensures that the project is progressing smoothly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Barlow" panose="020B0604020202020204" charset="0"/>
              </a:rPr>
              <a:t>Ensures that the team members are equipped with all the tools required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Barlow" panose="020B0604020202020204" charset="0"/>
              </a:rPr>
              <a:t>Protects the team from disturbances and keep them focused on the tasks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Barlow" panose="020B0604020202020204" charset="0"/>
              </a:rPr>
              <a:t>Coaches the team and product owner to be successful with Scrum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Barlow" panose="020B0604020202020204" charset="0"/>
              </a:rPr>
              <a:t>Is knowledgeable, questions, patient, transparent, care for the team</a:t>
            </a:r>
          </a:p>
          <a:p>
            <a:pPr>
              <a:lnSpc>
                <a:spcPct val="200000"/>
              </a:lnSpc>
            </a:pPr>
            <a:endParaRPr lang="en-US" sz="2400" dirty="0">
              <a:latin typeface="Barlow" panose="020B0604020202020204" charset="0"/>
            </a:endParaRPr>
          </a:p>
        </p:txBody>
      </p:sp>
      <p:sp>
        <p:nvSpPr>
          <p:cNvPr id="596" name="Google Shape;596;p1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algn="r"/>
            <a:fld id="{00000000-1234-1234-1234-123412341234}" type="slidenum">
              <a:rPr lang="en"/>
              <a:pPr algn="r"/>
              <a:t>8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4458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7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759428"/>
          </a:xfrm>
          <a:prstGeom prst="rect">
            <a:avLst/>
          </a:prstGeom>
          <a:solidFill>
            <a:srgbClr val="FFC000"/>
          </a:solidFill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br>
              <a:rPr lang="en-US" sz="4800" dirty="0">
                <a:latin typeface="Impact" panose="020B0806030902050204" pitchFamily="34" charset="0"/>
              </a:rPr>
            </a:br>
            <a:r>
              <a:rPr lang="en-US" sz="4800" b="1" dirty="0">
                <a:latin typeface="Impact" panose="020B0806030902050204" pitchFamily="34" charset="0"/>
              </a:rPr>
              <a:t>	</a:t>
            </a:r>
            <a:r>
              <a:rPr lang="en-US" b="1" dirty="0"/>
              <a:t>Scrum Team</a:t>
            </a:r>
          </a:p>
        </p:txBody>
      </p:sp>
      <p:sp>
        <p:nvSpPr>
          <p:cNvPr id="595" name="Google Shape;595;p17"/>
          <p:cNvSpPr txBox="1">
            <a:spLocks noGrp="1"/>
          </p:cNvSpPr>
          <p:nvPr>
            <p:ph type="body" idx="1"/>
          </p:nvPr>
        </p:nvSpPr>
        <p:spPr>
          <a:xfrm>
            <a:off x="956520" y="1597935"/>
            <a:ext cx="10877848" cy="5209199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>
              <a:lnSpc>
                <a:spcPct val="200000"/>
              </a:lnSpc>
            </a:pPr>
            <a:r>
              <a:rPr lang="en-US" sz="2400" dirty="0">
                <a:latin typeface="Barlow" panose="020B0604020202020204" charset="0"/>
              </a:rPr>
              <a:t>7 people, +/-2 (Right size)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Barlow" panose="020B0604020202020204" charset="0"/>
              </a:rPr>
              <a:t>Cross functional individuals (Design, Code, Test, etc.)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Barlow" panose="020B0604020202020204" charset="0"/>
              </a:rPr>
              <a:t>Self organizing and self managing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Barlow" panose="020B0604020202020204" charset="0"/>
              </a:rPr>
              <a:t>Should be full time workers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Barlow" panose="020B0604020202020204" charset="0"/>
              </a:rPr>
              <a:t>Inspect and adapt through daily scrum and retrospective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Barlow" panose="020B0604020202020204" charset="0"/>
              </a:rPr>
              <a:t>Develops T shaped skills</a:t>
            </a:r>
          </a:p>
        </p:txBody>
      </p:sp>
      <p:sp>
        <p:nvSpPr>
          <p:cNvPr id="596" name="Google Shape;596;p1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algn="r"/>
            <a:fld id="{00000000-1234-1234-1234-123412341234}" type="slidenum">
              <a:rPr lang="en"/>
              <a:pPr algn="r"/>
              <a:t>9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76315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5BEC3-D639-25C0-42B4-483833924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901C3-F5FD-F4B4-0C9F-5B5B6C801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1BEE3-4CD5-7334-3FE0-E355F0DF4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5471D-285B-4994-B2D3-AE4C0A76F354}" type="slidenum">
              <a:rPr lang="en-US" smtClean="0"/>
              <a:t>10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852A961-310D-0A2D-D2ED-478AAD1DFB6B}"/>
              </a:ext>
            </a:extLst>
          </p:cNvPr>
          <p:cNvGrpSpPr/>
          <p:nvPr/>
        </p:nvGrpSpPr>
        <p:grpSpPr>
          <a:xfrm>
            <a:off x="105607" y="4531388"/>
            <a:ext cx="3141591" cy="1648357"/>
            <a:chOff x="2645009" y="2191506"/>
            <a:chExt cx="3141591" cy="1648357"/>
          </a:xfrm>
        </p:grpSpPr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14382001-5F3F-F500-26F2-FAA1D1B868CF}"/>
                </a:ext>
              </a:extLst>
            </p:cNvPr>
            <p:cNvSpPr/>
            <p:nvPr/>
          </p:nvSpPr>
          <p:spPr>
            <a:xfrm>
              <a:off x="2645009" y="2210435"/>
              <a:ext cx="3141591" cy="1629428"/>
            </a:xfrm>
            <a:custGeom>
              <a:avLst/>
              <a:gdLst/>
              <a:ahLst/>
              <a:cxnLst/>
              <a:rect l="l" t="t" r="r" b="b"/>
              <a:pathLst>
                <a:path w="3715385" h="1840229">
                  <a:moveTo>
                    <a:pt x="0" y="274192"/>
                  </a:moveTo>
                  <a:lnTo>
                    <a:pt x="4418" y="224919"/>
                  </a:lnTo>
                  <a:lnTo>
                    <a:pt x="17157" y="178537"/>
                  </a:lnTo>
                  <a:lnTo>
                    <a:pt x="37442" y="135824"/>
                  </a:lnTo>
                  <a:lnTo>
                    <a:pt x="64499" y="97553"/>
                  </a:lnTo>
                  <a:lnTo>
                    <a:pt x="97553" y="64502"/>
                  </a:lnTo>
                  <a:lnTo>
                    <a:pt x="135830" y="37446"/>
                  </a:lnTo>
                  <a:lnTo>
                    <a:pt x="178556" y="17159"/>
                  </a:lnTo>
                  <a:lnTo>
                    <a:pt x="224955" y="4419"/>
                  </a:lnTo>
                  <a:lnTo>
                    <a:pt x="274255" y="0"/>
                  </a:lnTo>
                  <a:lnTo>
                    <a:pt x="3440492" y="0"/>
                  </a:lnTo>
                  <a:lnTo>
                    <a:pt x="3489803" y="4419"/>
                  </a:lnTo>
                  <a:lnTo>
                    <a:pt x="3536214" y="17159"/>
                  </a:lnTo>
                  <a:lnTo>
                    <a:pt x="3578950" y="37446"/>
                  </a:lnTo>
                  <a:lnTo>
                    <a:pt x="3617236" y="64502"/>
                  </a:lnTo>
                  <a:lnTo>
                    <a:pt x="3650298" y="97553"/>
                  </a:lnTo>
                  <a:lnTo>
                    <a:pt x="3677361" y="135824"/>
                  </a:lnTo>
                  <a:lnTo>
                    <a:pt x="3697651" y="178537"/>
                  </a:lnTo>
                  <a:lnTo>
                    <a:pt x="3710392" y="224919"/>
                  </a:lnTo>
                  <a:lnTo>
                    <a:pt x="3714812" y="274192"/>
                  </a:lnTo>
                  <a:lnTo>
                    <a:pt x="3714812" y="1565910"/>
                  </a:lnTo>
                  <a:lnTo>
                    <a:pt x="3710392" y="1615221"/>
                  </a:lnTo>
                  <a:lnTo>
                    <a:pt x="3697651" y="1661632"/>
                  </a:lnTo>
                  <a:lnTo>
                    <a:pt x="3677361" y="1704368"/>
                  </a:lnTo>
                  <a:lnTo>
                    <a:pt x="3650298" y="1742654"/>
                  </a:lnTo>
                  <a:lnTo>
                    <a:pt x="3617236" y="1775716"/>
                  </a:lnTo>
                  <a:lnTo>
                    <a:pt x="3578950" y="1802779"/>
                  </a:lnTo>
                  <a:lnTo>
                    <a:pt x="3536214" y="1823068"/>
                  </a:lnTo>
                  <a:lnTo>
                    <a:pt x="3489803" y="1835810"/>
                  </a:lnTo>
                  <a:lnTo>
                    <a:pt x="3440492" y="1840229"/>
                  </a:lnTo>
                  <a:lnTo>
                    <a:pt x="274255" y="1840229"/>
                  </a:lnTo>
                  <a:lnTo>
                    <a:pt x="224955" y="1835810"/>
                  </a:lnTo>
                  <a:lnTo>
                    <a:pt x="178556" y="1823068"/>
                  </a:lnTo>
                  <a:lnTo>
                    <a:pt x="135830" y="1802779"/>
                  </a:lnTo>
                  <a:lnTo>
                    <a:pt x="97553" y="1775716"/>
                  </a:lnTo>
                  <a:lnTo>
                    <a:pt x="64499" y="1742654"/>
                  </a:lnTo>
                  <a:lnTo>
                    <a:pt x="37442" y="1704368"/>
                  </a:lnTo>
                  <a:lnTo>
                    <a:pt x="17157" y="1661632"/>
                  </a:lnTo>
                  <a:lnTo>
                    <a:pt x="4418" y="1615221"/>
                  </a:lnTo>
                  <a:lnTo>
                    <a:pt x="0" y="1565910"/>
                  </a:lnTo>
                  <a:lnTo>
                    <a:pt x="0" y="274192"/>
                  </a:lnTo>
                  <a:close/>
                </a:path>
              </a:pathLst>
            </a:custGeom>
            <a:solidFill>
              <a:srgbClr val="92D050"/>
            </a:solidFill>
            <a:ln w="25400">
              <a:solidFill>
                <a:srgbClr val="003B83"/>
              </a:solidFill>
            </a:ln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7" name="object 24">
              <a:extLst>
                <a:ext uri="{FF2B5EF4-FFF2-40B4-BE49-F238E27FC236}">
                  <a16:creationId xmlns:a16="http://schemas.microsoft.com/office/drawing/2014/main" id="{7F673D88-2F88-554B-CF22-E921A59A5F2C}"/>
                </a:ext>
              </a:extLst>
            </p:cNvPr>
            <p:cNvSpPr/>
            <p:nvPr/>
          </p:nvSpPr>
          <p:spPr>
            <a:xfrm>
              <a:off x="2645009" y="2191506"/>
              <a:ext cx="2491740" cy="537210"/>
            </a:xfrm>
            <a:custGeom>
              <a:avLst/>
              <a:gdLst/>
              <a:ahLst/>
              <a:cxnLst/>
              <a:rect l="l" t="t" r="r" b="b"/>
              <a:pathLst>
                <a:path w="2491740" h="537210">
                  <a:moveTo>
                    <a:pt x="2491740" y="0"/>
                  </a:moveTo>
                  <a:lnTo>
                    <a:pt x="2148840" y="0"/>
                  </a:lnTo>
                  <a:lnTo>
                    <a:pt x="1931670" y="0"/>
                  </a:lnTo>
                  <a:lnTo>
                    <a:pt x="445770" y="0"/>
                  </a:lnTo>
                  <a:lnTo>
                    <a:pt x="434340" y="0"/>
                  </a:lnTo>
                  <a:lnTo>
                    <a:pt x="283464" y="1270"/>
                  </a:lnTo>
                  <a:lnTo>
                    <a:pt x="223875" y="7899"/>
                  </a:lnTo>
                  <a:lnTo>
                    <a:pt x="171488" y="21361"/>
                  </a:lnTo>
                  <a:lnTo>
                    <a:pt x="126212" y="41224"/>
                  </a:lnTo>
                  <a:lnTo>
                    <a:pt x="87998" y="67017"/>
                  </a:lnTo>
                  <a:lnTo>
                    <a:pt x="56756" y="98298"/>
                  </a:lnTo>
                  <a:lnTo>
                    <a:pt x="32435" y="134594"/>
                  </a:lnTo>
                  <a:lnTo>
                    <a:pt x="14960" y="175475"/>
                  </a:lnTo>
                  <a:lnTo>
                    <a:pt x="4254" y="220459"/>
                  </a:lnTo>
                  <a:lnTo>
                    <a:pt x="254" y="269113"/>
                  </a:lnTo>
                  <a:lnTo>
                    <a:pt x="228" y="304723"/>
                  </a:lnTo>
                  <a:lnTo>
                    <a:pt x="215" y="308610"/>
                  </a:lnTo>
                  <a:lnTo>
                    <a:pt x="0" y="308610"/>
                  </a:lnTo>
                  <a:lnTo>
                    <a:pt x="0" y="411480"/>
                  </a:lnTo>
                  <a:lnTo>
                    <a:pt x="0" y="537210"/>
                  </a:lnTo>
                  <a:lnTo>
                    <a:pt x="434340" y="537210"/>
                  </a:lnTo>
                  <a:lnTo>
                    <a:pt x="560070" y="537210"/>
                  </a:lnTo>
                  <a:lnTo>
                    <a:pt x="2045970" y="537210"/>
                  </a:lnTo>
                  <a:lnTo>
                    <a:pt x="2148840" y="537210"/>
                  </a:lnTo>
                  <a:lnTo>
                    <a:pt x="2148840" y="536409"/>
                  </a:lnTo>
                  <a:lnTo>
                    <a:pt x="2208276" y="535940"/>
                  </a:lnTo>
                  <a:lnTo>
                    <a:pt x="2267851" y="529285"/>
                  </a:lnTo>
                  <a:lnTo>
                    <a:pt x="2320239" y="515797"/>
                  </a:lnTo>
                  <a:lnTo>
                    <a:pt x="2365514" y="495935"/>
                  </a:lnTo>
                  <a:lnTo>
                    <a:pt x="2403729" y="470141"/>
                  </a:lnTo>
                  <a:lnTo>
                    <a:pt x="2434971" y="438861"/>
                  </a:lnTo>
                  <a:lnTo>
                    <a:pt x="2459291" y="402564"/>
                  </a:lnTo>
                  <a:lnTo>
                    <a:pt x="2476766" y="361670"/>
                  </a:lnTo>
                  <a:lnTo>
                    <a:pt x="2487472" y="316661"/>
                  </a:lnTo>
                  <a:lnTo>
                    <a:pt x="2491486" y="267970"/>
                  </a:lnTo>
                  <a:lnTo>
                    <a:pt x="2491549" y="228600"/>
                  </a:lnTo>
                  <a:lnTo>
                    <a:pt x="2491740" y="228600"/>
                  </a:lnTo>
                  <a:lnTo>
                    <a:pt x="2491740" y="125730"/>
                  </a:lnTo>
                  <a:lnTo>
                    <a:pt x="2491740" y="0"/>
                  </a:lnTo>
                  <a:close/>
                </a:path>
              </a:pathLst>
            </a:custGeom>
            <a:solidFill>
              <a:srgbClr val="003B83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8" name="object 23">
              <a:extLst>
                <a:ext uri="{FF2B5EF4-FFF2-40B4-BE49-F238E27FC236}">
                  <a16:creationId xmlns:a16="http://schemas.microsoft.com/office/drawing/2014/main" id="{E08B034A-628C-34A9-B966-FF9782744BCD}"/>
                </a:ext>
              </a:extLst>
            </p:cNvPr>
            <p:cNvSpPr txBox="1"/>
            <p:nvPr/>
          </p:nvSpPr>
          <p:spPr>
            <a:xfrm>
              <a:off x="2840559" y="2697453"/>
              <a:ext cx="2566670" cy="110799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53670" indent="-141605">
                <a:lnSpc>
                  <a:spcPct val="150000"/>
                </a:lnSpc>
                <a:buSzPct val="122000"/>
                <a:buChar char="•"/>
                <a:tabLst>
                  <a:tab pos="154305" algn="l"/>
                </a:tabLst>
              </a:pPr>
              <a:r>
                <a:rPr sz="1600" spc="5" dirty="0">
                  <a:solidFill>
                    <a:srgbClr val="FFFFFF"/>
                  </a:solidFill>
                  <a:latin typeface="Arial"/>
                  <a:cs typeface="Arial"/>
                </a:rPr>
                <a:t>Product</a:t>
              </a:r>
              <a:r>
                <a:rPr sz="1600" spc="-35" dirty="0">
                  <a:solidFill>
                    <a:srgbClr val="FFFFFF"/>
                  </a:solidFill>
                  <a:latin typeface="Arial"/>
                  <a:cs typeface="Arial"/>
                </a:rPr>
                <a:t> </a:t>
              </a:r>
              <a:r>
                <a:rPr sz="1600" spc="10" dirty="0">
                  <a:solidFill>
                    <a:srgbClr val="FFFFFF"/>
                  </a:solidFill>
                  <a:latin typeface="Arial"/>
                  <a:cs typeface="Arial"/>
                </a:rPr>
                <a:t>backlog</a:t>
              </a:r>
              <a:endParaRPr sz="1600" dirty="0">
                <a:latin typeface="Arial"/>
                <a:cs typeface="Arial"/>
              </a:endParaRPr>
            </a:p>
            <a:p>
              <a:pPr marL="153035" indent="-140970">
                <a:lnSpc>
                  <a:spcPct val="150000"/>
                </a:lnSpc>
                <a:buSzPct val="122000"/>
                <a:buChar char="•"/>
                <a:tabLst>
                  <a:tab pos="153670" algn="l"/>
                </a:tabLst>
              </a:pPr>
              <a:r>
                <a:rPr sz="1600" spc="5" dirty="0">
                  <a:solidFill>
                    <a:srgbClr val="FFFFFF"/>
                  </a:solidFill>
                  <a:latin typeface="Arial"/>
                  <a:cs typeface="Arial"/>
                </a:rPr>
                <a:t>Sprint</a:t>
              </a:r>
              <a:r>
                <a:rPr sz="1600" spc="-10" dirty="0">
                  <a:solidFill>
                    <a:srgbClr val="FFFFFF"/>
                  </a:solidFill>
                  <a:latin typeface="Arial"/>
                  <a:cs typeface="Arial"/>
                </a:rPr>
                <a:t> </a:t>
              </a:r>
              <a:r>
                <a:rPr sz="1600" spc="5" dirty="0">
                  <a:solidFill>
                    <a:srgbClr val="FFFFFF"/>
                  </a:solidFill>
                  <a:latin typeface="Arial"/>
                  <a:cs typeface="Arial"/>
                </a:rPr>
                <a:t>backlog</a:t>
              </a:r>
              <a:endParaRPr sz="1600" dirty="0">
                <a:latin typeface="Arial"/>
                <a:cs typeface="Arial"/>
              </a:endParaRPr>
            </a:p>
            <a:p>
              <a:pPr marL="153035" indent="-140970">
                <a:lnSpc>
                  <a:spcPct val="150000"/>
                </a:lnSpc>
                <a:buSzPct val="122000"/>
                <a:buChar char="•"/>
                <a:tabLst>
                  <a:tab pos="153670" algn="l"/>
                </a:tabLst>
              </a:pPr>
              <a:r>
                <a:rPr sz="1600" spc="10" dirty="0">
                  <a:solidFill>
                    <a:srgbClr val="FFFFFF"/>
                  </a:solidFill>
                  <a:latin typeface="Arial"/>
                  <a:cs typeface="Arial"/>
                </a:rPr>
                <a:t>Burndown</a:t>
              </a:r>
              <a:r>
                <a:rPr sz="1600" spc="-65" dirty="0">
                  <a:solidFill>
                    <a:srgbClr val="FFFFFF"/>
                  </a:solidFill>
                  <a:latin typeface="Arial"/>
                  <a:cs typeface="Arial"/>
                </a:rPr>
                <a:t> </a:t>
              </a:r>
              <a:r>
                <a:rPr sz="1600" spc="5" dirty="0">
                  <a:solidFill>
                    <a:srgbClr val="FFFFFF"/>
                  </a:solidFill>
                  <a:latin typeface="Arial"/>
                  <a:cs typeface="Arial"/>
                </a:rPr>
                <a:t>charts</a:t>
              </a:r>
              <a:endParaRPr sz="1600" dirty="0">
                <a:latin typeface="Arial"/>
                <a:cs typeface="Arial"/>
              </a:endParaRPr>
            </a:p>
          </p:txBody>
        </p:sp>
        <p:sp>
          <p:nvSpPr>
            <p:cNvPr id="9" name="object 25">
              <a:extLst>
                <a:ext uri="{FF2B5EF4-FFF2-40B4-BE49-F238E27FC236}">
                  <a16:creationId xmlns:a16="http://schemas.microsoft.com/office/drawing/2014/main" id="{39EA7028-5CE6-FCD4-728F-80C8454F19FC}"/>
                </a:ext>
              </a:extLst>
            </p:cNvPr>
            <p:cNvSpPr txBox="1"/>
            <p:nvPr/>
          </p:nvSpPr>
          <p:spPr>
            <a:xfrm>
              <a:off x="2765334" y="2289570"/>
              <a:ext cx="1346835" cy="293670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0"/>
                </a:spcBef>
              </a:pPr>
              <a:r>
                <a:rPr spc="10" dirty="0">
                  <a:solidFill>
                    <a:srgbClr val="FFFFFF"/>
                  </a:solidFill>
                  <a:latin typeface="Arial"/>
                  <a:cs typeface="Arial"/>
                </a:rPr>
                <a:t>Artifacts</a:t>
              </a:r>
              <a:endParaRPr dirty="0">
                <a:latin typeface="Arial"/>
                <a:cs typeface="Arial"/>
              </a:endParaRPr>
            </a:p>
          </p:txBody>
        </p:sp>
      </p:grp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76D03AB-1020-ED06-3263-BB2A74D26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7F4956FF-9697-9717-14B6-566D3CF7DDAC}"/>
              </a:ext>
            </a:extLst>
          </p:cNvPr>
          <p:cNvSpPr/>
          <p:nvPr/>
        </p:nvSpPr>
        <p:spPr>
          <a:xfrm>
            <a:off x="2363663" y="294973"/>
            <a:ext cx="9223822" cy="45800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65452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7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759428"/>
          </a:xfrm>
          <a:prstGeom prst="rect">
            <a:avLst/>
          </a:prstGeom>
          <a:solidFill>
            <a:srgbClr val="92D050"/>
          </a:solidFill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br>
              <a:rPr lang="en-US" sz="4800" dirty="0">
                <a:latin typeface="Impact" panose="020B0806030902050204" pitchFamily="34" charset="0"/>
              </a:rPr>
            </a:br>
            <a:r>
              <a:rPr lang="en-US" sz="4800" b="1" dirty="0">
                <a:latin typeface="Impact" panose="020B0806030902050204" pitchFamily="34" charset="0"/>
              </a:rPr>
              <a:t>	</a:t>
            </a:r>
            <a:r>
              <a:rPr lang="en-US" b="1" dirty="0"/>
              <a:t>Sprint</a:t>
            </a:r>
          </a:p>
        </p:txBody>
      </p:sp>
      <p:sp>
        <p:nvSpPr>
          <p:cNvPr id="595" name="Google Shape;595;p17"/>
          <p:cNvSpPr txBox="1">
            <a:spLocks noGrp="1"/>
          </p:cNvSpPr>
          <p:nvPr>
            <p:ph type="body" idx="1"/>
          </p:nvPr>
        </p:nvSpPr>
        <p:spPr>
          <a:xfrm>
            <a:off x="956520" y="1597936"/>
            <a:ext cx="10877848" cy="4806929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>
              <a:lnSpc>
                <a:spcPct val="200000"/>
              </a:lnSpc>
            </a:pPr>
            <a:r>
              <a:rPr lang="en-US" sz="2400" dirty="0">
                <a:latin typeface="Barlow" panose="020B0604020202020204" charset="0"/>
              </a:rPr>
              <a:t>Scrum projects make progress in a series of “Sprints”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Barlow" panose="020B0604020202020204" charset="0"/>
              </a:rPr>
              <a:t>Usually takes 2-3 weeks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Barlow" panose="020B0604020202020204" charset="0"/>
              </a:rPr>
              <a:t>A product is designed, coded and tested during a sprint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Barlow" panose="020B0604020202020204" charset="0"/>
              </a:rPr>
              <a:t>The outcome is a potentially shippable product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Barlow" panose="020B0604020202020204" charset="0"/>
              </a:rPr>
              <a:t>Sprints are repeated until the product is developed fully with all features</a:t>
            </a:r>
          </a:p>
        </p:txBody>
      </p:sp>
      <p:sp>
        <p:nvSpPr>
          <p:cNvPr id="596" name="Google Shape;596;p1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algn="r"/>
            <a:fld id="{00000000-1234-1234-1234-123412341234}" type="slidenum">
              <a:rPr lang="en"/>
              <a:pPr algn="r"/>
              <a:t>11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35315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7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759428"/>
          </a:xfrm>
          <a:prstGeom prst="rect">
            <a:avLst/>
          </a:prstGeom>
          <a:solidFill>
            <a:srgbClr val="92D050"/>
          </a:solidFill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br>
              <a:rPr lang="en-US" sz="4800" dirty="0">
                <a:latin typeface="Impact" panose="020B0806030902050204" pitchFamily="34" charset="0"/>
              </a:rPr>
            </a:br>
            <a:r>
              <a:rPr lang="en-US" sz="4800" b="1" dirty="0">
                <a:latin typeface="Impact" panose="020B0806030902050204" pitchFamily="34" charset="0"/>
              </a:rPr>
              <a:t>	</a:t>
            </a:r>
            <a:r>
              <a:rPr lang="en-US" b="1" dirty="0"/>
              <a:t>Product</a:t>
            </a:r>
            <a:r>
              <a:rPr lang="en-US" sz="4800" b="1" dirty="0">
                <a:latin typeface="Impact" panose="020B0806030902050204" pitchFamily="34" charset="0"/>
              </a:rPr>
              <a:t> </a:t>
            </a:r>
            <a:r>
              <a:rPr lang="en-US" b="1" dirty="0"/>
              <a:t>Backlog</a:t>
            </a:r>
          </a:p>
        </p:txBody>
      </p:sp>
      <p:sp>
        <p:nvSpPr>
          <p:cNvPr id="595" name="Google Shape;595;p17"/>
          <p:cNvSpPr txBox="1">
            <a:spLocks noGrp="1"/>
          </p:cNvSpPr>
          <p:nvPr>
            <p:ph type="body" idx="1"/>
          </p:nvPr>
        </p:nvSpPr>
        <p:spPr>
          <a:xfrm>
            <a:off x="828184" y="1759429"/>
            <a:ext cx="10877848" cy="4979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Barlow" panose="020B0604020202020204" charset="0"/>
              </a:rPr>
              <a:t>Created by product owner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Barlow" panose="020B0604020202020204" charset="0"/>
              </a:rPr>
              <a:t>Includes functional and non functional requirements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Barlow" panose="020B0604020202020204" charset="0"/>
              </a:rPr>
              <a:t>Is like a wish list of all the things the product owner wants in the product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Barlow" panose="020B0604020202020204" charset="0"/>
              </a:rPr>
              <a:t>Presented as </a:t>
            </a:r>
            <a:r>
              <a:rPr lang="en-US" sz="2400" b="1" dirty="0">
                <a:latin typeface="Barlow" panose="020B0604020202020204" charset="0"/>
              </a:rPr>
              <a:t>USER STORIES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Barlow" panose="020B0604020202020204" charset="0"/>
              </a:rPr>
              <a:t>Prioritize the list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Barlow" panose="020B0604020202020204" charset="0"/>
              </a:rPr>
              <a:t>The list created during Sprint 0, evolves and is reprioritized at the start of each sprint  </a:t>
            </a:r>
          </a:p>
        </p:txBody>
      </p:sp>
      <p:sp>
        <p:nvSpPr>
          <p:cNvPr id="596" name="Google Shape;596;p1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algn="r"/>
            <a:fld id="{00000000-1234-1234-1234-123412341234}" type="slidenum">
              <a:rPr lang="en"/>
              <a:pPr algn="r"/>
              <a:t>12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158587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>
          <a:extLst>
            <a:ext uri="{FF2B5EF4-FFF2-40B4-BE49-F238E27FC236}">
              <a16:creationId xmlns:a16="http://schemas.microsoft.com/office/drawing/2014/main" id="{1662DDD8-467D-9484-B7A5-9D652C5AC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7">
            <a:extLst>
              <a:ext uri="{FF2B5EF4-FFF2-40B4-BE49-F238E27FC236}">
                <a16:creationId xmlns:a16="http://schemas.microsoft.com/office/drawing/2014/main" id="{9A96A154-4D4E-6FA0-9376-93E661D7E2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759428"/>
          </a:xfrm>
          <a:prstGeom prst="rect">
            <a:avLst/>
          </a:prstGeom>
          <a:solidFill>
            <a:srgbClr val="92D050"/>
          </a:solidFill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br>
              <a:rPr lang="en-US" sz="4800" dirty="0">
                <a:latin typeface="Impact" panose="020B0806030902050204" pitchFamily="34" charset="0"/>
              </a:rPr>
            </a:br>
            <a:r>
              <a:rPr lang="en-US" sz="4800" dirty="0">
                <a:latin typeface="Impact" panose="020B0806030902050204" pitchFamily="34" charset="0"/>
              </a:rPr>
              <a:t>	</a:t>
            </a:r>
            <a:r>
              <a:rPr lang="en-US" b="1" dirty="0"/>
              <a:t>Product</a:t>
            </a:r>
            <a:r>
              <a:rPr lang="en-US" sz="4800" b="1" dirty="0">
                <a:latin typeface="Impact" panose="020B0806030902050204" pitchFamily="34" charset="0"/>
              </a:rPr>
              <a:t> </a:t>
            </a:r>
            <a:r>
              <a:rPr lang="en-US" b="1" dirty="0"/>
              <a:t>Backlog</a:t>
            </a:r>
          </a:p>
        </p:txBody>
      </p:sp>
      <p:sp>
        <p:nvSpPr>
          <p:cNvPr id="595" name="Google Shape;595;p17">
            <a:extLst>
              <a:ext uri="{FF2B5EF4-FFF2-40B4-BE49-F238E27FC236}">
                <a16:creationId xmlns:a16="http://schemas.microsoft.com/office/drawing/2014/main" id="{DFB55A68-BDA1-AB42-3F8C-4C6CBBCC9A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56520" y="1501684"/>
            <a:ext cx="11235480" cy="4979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>
              <a:lnSpc>
                <a:spcPct val="200000"/>
              </a:lnSpc>
            </a:pPr>
            <a:r>
              <a:rPr lang="en-US" sz="2400" dirty="0">
                <a:latin typeface="Barlow" panose="020B0604020202020204" charset="0"/>
              </a:rPr>
              <a:t>Commitment : </a:t>
            </a:r>
            <a:r>
              <a:rPr lang="en-US" sz="2400" b="1" dirty="0">
                <a:latin typeface="Barlow" panose="020B0604020202020204" charset="0"/>
              </a:rPr>
              <a:t>Product goal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Barlow" panose="020B0604020202020204" charset="0"/>
              </a:rPr>
              <a:t>Describes future state of the product which serves as a target of the Scrum team to plan against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Barlow" panose="020B0604020202020204" charset="0"/>
              </a:rPr>
              <a:t>Act as long-term objective for the Scrum team which they can full fill (or abandon)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Barlow" panose="020B0604020202020204" charset="0"/>
              </a:rPr>
              <a:t>User stories in the product backlog defines “What” will fulfill the Product Goal</a:t>
            </a:r>
          </a:p>
          <a:p>
            <a:pPr lvl="1">
              <a:lnSpc>
                <a:spcPct val="150000"/>
              </a:lnSpc>
            </a:pPr>
            <a:endParaRPr lang="en-US" dirty="0">
              <a:latin typeface="Barlow" panose="020B0604020202020204" charset="0"/>
            </a:endParaRPr>
          </a:p>
          <a:p>
            <a:pPr lvl="1">
              <a:lnSpc>
                <a:spcPct val="200000"/>
              </a:lnSpc>
            </a:pPr>
            <a:endParaRPr lang="en-US" sz="2000" dirty="0">
              <a:latin typeface="Barlow" panose="020B0604020202020204" charset="0"/>
            </a:endParaRPr>
          </a:p>
          <a:p>
            <a:pPr>
              <a:lnSpc>
                <a:spcPct val="200000"/>
              </a:lnSpc>
            </a:pPr>
            <a:endParaRPr lang="en-US" sz="2400" dirty="0">
              <a:latin typeface="Barlow" panose="020B0604020202020204" charset="0"/>
            </a:endParaRPr>
          </a:p>
        </p:txBody>
      </p:sp>
      <p:sp>
        <p:nvSpPr>
          <p:cNvPr id="596" name="Google Shape;596;p17">
            <a:extLst>
              <a:ext uri="{FF2B5EF4-FFF2-40B4-BE49-F238E27FC236}">
                <a16:creationId xmlns:a16="http://schemas.microsoft.com/office/drawing/2014/main" id="{9EA2DBC8-7EDC-3E9C-22A5-574C7735EF9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algn="r"/>
            <a:fld id="{00000000-1234-1234-1234-123412341234}" type="slidenum">
              <a:rPr lang="en"/>
              <a:pPr algn="r"/>
              <a:t>13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411427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7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759428"/>
          </a:xfrm>
          <a:prstGeom prst="rect">
            <a:avLst/>
          </a:prstGeom>
          <a:solidFill>
            <a:srgbClr val="92D050"/>
          </a:solidFill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br>
              <a:rPr lang="en-US" sz="4800" dirty="0">
                <a:latin typeface="Impact" panose="020B0806030902050204" pitchFamily="34" charset="0"/>
              </a:rPr>
            </a:br>
            <a:r>
              <a:rPr lang="en-US" sz="4800" dirty="0">
                <a:latin typeface="Impact" panose="020B0806030902050204" pitchFamily="34" charset="0"/>
              </a:rPr>
              <a:t>	</a:t>
            </a:r>
            <a:r>
              <a:rPr lang="en-US" b="1" dirty="0"/>
              <a:t>User Stories</a:t>
            </a:r>
          </a:p>
        </p:txBody>
      </p:sp>
      <p:sp>
        <p:nvSpPr>
          <p:cNvPr id="595" name="Google Shape;595;p17"/>
          <p:cNvSpPr txBox="1">
            <a:spLocks noGrp="1"/>
          </p:cNvSpPr>
          <p:nvPr>
            <p:ph type="body" idx="1"/>
          </p:nvPr>
        </p:nvSpPr>
        <p:spPr>
          <a:xfrm>
            <a:off x="956520" y="1597936"/>
            <a:ext cx="10877848" cy="4806929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>
              <a:lnSpc>
                <a:spcPct val="200000"/>
              </a:lnSpc>
            </a:pPr>
            <a:r>
              <a:rPr lang="en-US" sz="2400" dirty="0">
                <a:latin typeface="Barlow" panose="020B0604020202020204" charset="0"/>
              </a:rPr>
              <a:t>A way of describing a feature set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Barlow" panose="020B0604020202020204" charset="0"/>
              </a:rPr>
              <a:t>Written from the perspective of the end user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Barlow" panose="020B0604020202020204" charset="0"/>
              </a:rPr>
              <a:t>Gives the right amount of details for estimation</a:t>
            </a:r>
          </a:p>
        </p:txBody>
      </p:sp>
      <p:sp>
        <p:nvSpPr>
          <p:cNvPr id="596" name="Google Shape;596;p1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algn="r"/>
            <a:fld id="{00000000-1234-1234-1234-123412341234}" type="slidenum">
              <a:rPr lang="en"/>
              <a:pPr algn="r"/>
              <a:t>14</a:t>
            </a:fld>
            <a:endParaRPr dirty="0"/>
          </a:p>
        </p:txBody>
      </p:sp>
      <p:grpSp>
        <p:nvGrpSpPr>
          <p:cNvPr id="5" name="object 4"/>
          <p:cNvGrpSpPr/>
          <p:nvPr/>
        </p:nvGrpSpPr>
        <p:grpSpPr>
          <a:xfrm>
            <a:off x="4137831" y="2661582"/>
            <a:ext cx="7689764" cy="3944417"/>
            <a:chOff x="1164082" y="1142870"/>
            <a:chExt cx="5767323" cy="2958313"/>
          </a:xfrm>
        </p:grpSpPr>
        <p:sp>
          <p:nvSpPr>
            <p:cNvPr id="6" name="object 5"/>
            <p:cNvSpPr/>
            <p:nvPr/>
          </p:nvSpPr>
          <p:spPr>
            <a:xfrm>
              <a:off x="3790060" y="1142870"/>
              <a:ext cx="3141345" cy="2182495"/>
            </a:xfrm>
            <a:custGeom>
              <a:avLst/>
              <a:gdLst/>
              <a:ahLst/>
              <a:cxnLst/>
              <a:rect l="l" t="t" r="r" b="b"/>
              <a:pathLst>
                <a:path w="3141345" h="2182495">
                  <a:moveTo>
                    <a:pt x="1637563" y="0"/>
                  </a:moveTo>
                  <a:lnTo>
                    <a:pt x="1588207" y="543"/>
                  </a:lnTo>
                  <a:lnTo>
                    <a:pt x="1538824" y="2240"/>
                  </a:lnTo>
                  <a:lnTo>
                    <a:pt x="1489454" y="5097"/>
                  </a:lnTo>
                  <a:lnTo>
                    <a:pt x="1440140" y="9121"/>
                  </a:lnTo>
                  <a:lnTo>
                    <a:pt x="1390923" y="14317"/>
                  </a:lnTo>
                  <a:lnTo>
                    <a:pt x="1341842" y="20691"/>
                  </a:lnTo>
                  <a:lnTo>
                    <a:pt x="1292941" y="28252"/>
                  </a:lnTo>
                  <a:lnTo>
                    <a:pt x="1244260" y="37003"/>
                  </a:lnTo>
                  <a:lnTo>
                    <a:pt x="1195840" y="46953"/>
                  </a:lnTo>
                  <a:lnTo>
                    <a:pt x="1147722" y="58107"/>
                  </a:lnTo>
                  <a:lnTo>
                    <a:pt x="1099949" y="70471"/>
                  </a:lnTo>
                  <a:lnTo>
                    <a:pt x="1052560" y="84053"/>
                  </a:lnTo>
                  <a:lnTo>
                    <a:pt x="1005597" y="98858"/>
                  </a:lnTo>
                  <a:lnTo>
                    <a:pt x="959102" y="114892"/>
                  </a:lnTo>
                  <a:lnTo>
                    <a:pt x="913115" y="132162"/>
                  </a:lnTo>
                  <a:lnTo>
                    <a:pt x="867678" y="150675"/>
                  </a:lnTo>
                  <a:lnTo>
                    <a:pt x="822833" y="170436"/>
                  </a:lnTo>
                  <a:lnTo>
                    <a:pt x="773832" y="193815"/>
                  </a:lnTo>
                  <a:lnTo>
                    <a:pt x="726536" y="218312"/>
                  </a:lnTo>
                  <a:lnTo>
                    <a:pt x="680954" y="243888"/>
                  </a:lnTo>
                  <a:lnTo>
                    <a:pt x="637101" y="270500"/>
                  </a:lnTo>
                  <a:lnTo>
                    <a:pt x="594989" y="298108"/>
                  </a:lnTo>
                  <a:lnTo>
                    <a:pt x="554629" y="326671"/>
                  </a:lnTo>
                  <a:lnTo>
                    <a:pt x="516035" y="356148"/>
                  </a:lnTo>
                  <a:lnTo>
                    <a:pt x="479219" y="386498"/>
                  </a:lnTo>
                  <a:lnTo>
                    <a:pt x="444193" y="417680"/>
                  </a:lnTo>
                  <a:lnTo>
                    <a:pt x="410970" y="449653"/>
                  </a:lnTo>
                  <a:lnTo>
                    <a:pt x="379563" y="482376"/>
                  </a:lnTo>
                  <a:lnTo>
                    <a:pt x="349983" y="515808"/>
                  </a:lnTo>
                  <a:lnTo>
                    <a:pt x="322243" y="549908"/>
                  </a:lnTo>
                  <a:lnTo>
                    <a:pt x="296356" y="584635"/>
                  </a:lnTo>
                  <a:lnTo>
                    <a:pt x="272334" y="619948"/>
                  </a:lnTo>
                  <a:lnTo>
                    <a:pt x="250190" y="655806"/>
                  </a:lnTo>
                  <a:lnTo>
                    <a:pt x="229936" y="692168"/>
                  </a:lnTo>
                  <a:lnTo>
                    <a:pt x="211584" y="728993"/>
                  </a:lnTo>
                  <a:lnTo>
                    <a:pt x="195147" y="766240"/>
                  </a:lnTo>
                  <a:lnTo>
                    <a:pt x="180638" y="803869"/>
                  </a:lnTo>
                  <a:lnTo>
                    <a:pt x="168068" y="841837"/>
                  </a:lnTo>
                  <a:lnTo>
                    <a:pt x="157451" y="880105"/>
                  </a:lnTo>
                  <a:lnTo>
                    <a:pt x="148798" y="918631"/>
                  </a:lnTo>
                  <a:lnTo>
                    <a:pt x="142123" y="957374"/>
                  </a:lnTo>
                  <a:lnTo>
                    <a:pt x="137437" y="996293"/>
                  </a:lnTo>
                  <a:lnTo>
                    <a:pt x="134754" y="1035347"/>
                  </a:lnTo>
                  <a:lnTo>
                    <a:pt x="134085" y="1074496"/>
                  </a:lnTo>
                  <a:lnTo>
                    <a:pt x="135443" y="1113698"/>
                  </a:lnTo>
                  <a:lnTo>
                    <a:pt x="138840" y="1152912"/>
                  </a:lnTo>
                  <a:lnTo>
                    <a:pt x="144290" y="1192097"/>
                  </a:lnTo>
                  <a:lnTo>
                    <a:pt x="151804" y="1231213"/>
                  </a:lnTo>
                  <a:lnTo>
                    <a:pt x="161394" y="1270218"/>
                  </a:lnTo>
                  <a:lnTo>
                    <a:pt x="173074" y="1309071"/>
                  </a:lnTo>
                  <a:lnTo>
                    <a:pt x="186856" y="1347731"/>
                  </a:lnTo>
                  <a:lnTo>
                    <a:pt x="202752" y="1386158"/>
                  </a:lnTo>
                  <a:lnTo>
                    <a:pt x="220775" y="1424310"/>
                  </a:lnTo>
                  <a:lnTo>
                    <a:pt x="240937" y="1462147"/>
                  </a:lnTo>
                  <a:lnTo>
                    <a:pt x="263250" y="1499627"/>
                  </a:lnTo>
                  <a:lnTo>
                    <a:pt x="287727" y="1536709"/>
                  </a:lnTo>
                  <a:lnTo>
                    <a:pt x="314381" y="1573352"/>
                  </a:lnTo>
                  <a:lnTo>
                    <a:pt x="343224" y="1609516"/>
                  </a:lnTo>
                  <a:lnTo>
                    <a:pt x="374268" y="1645160"/>
                  </a:lnTo>
                  <a:lnTo>
                    <a:pt x="0" y="2181989"/>
                  </a:lnTo>
                  <a:lnTo>
                    <a:pt x="771525" y="1938911"/>
                  </a:lnTo>
                  <a:lnTo>
                    <a:pt x="814853" y="1959798"/>
                  </a:lnTo>
                  <a:lnTo>
                    <a:pt x="858941" y="1979505"/>
                  </a:lnTo>
                  <a:lnTo>
                    <a:pt x="903746" y="1998031"/>
                  </a:lnTo>
                  <a:lnTo>
                    <a:pt x="949223" y="2015374"/>
                  </a:lnTo>
                  <a:lnTo>
                    <a:pt x="995328" y="2031535"/>
                  </a:lnTo>
                  <a:lnTo>
                    <a:pt x="1042018" y="2046513"/>
                  </a:lnTo>
                  <a:lnTo>
                    <a:pt x="1089248" y="2060308"/>
                  </a:lnTo>
                  <a:lnTo>
                    <a:pt x="1136975" y="2072918"/>
                  </a:lnTo>
                  <a:lnTo>
                    <a:pt x="1185153" y="2084343"/>
                  </a:lnTo>
                  <a:lnTo>
                    <a:pt x="1233741" y="2094582"/>
                  </a:lnTo>
                  <a:lnTo>
                    <a:pt x="1282693" y="2103635"/>
                  </a:lnTo>
                  <a:lnTo>
                    <a:pt x="1331965" y="2111501"/>
                  </a:lnTo>
                  <a:lnTo>
                    <a:pt x="1381513" y="2118180"/>
                  </a:lnTo>
                  <a:lnTo>
                    <a:pt x="1431295" y="2123671"/>
                  </a:lnTo>
                  <a:lnTo>
                    <a:pt x="1481264" y="2127972"/>
                  </a:lnTo>
                  <a:lnTo>
                    <a:pt x="1531378" y="2131085"/>
                  </a:lnTo>
                  <a:lnTo>
                    <a:pt x="1581593" y="2133008"/>
                  </a:lnTo>
                  <a:lnTo>
                    <a:pt x="1631864" y="2133740"/>
                  </a:lnTo>
                  <a:lnTo>
                    <a:pt x="1682148" y="2133281"/>
                  </a:lnTo>
                  <a:lnTo>
                    <a:pt x="1732400" y="2131630"/>
                  </a:lnTo>
                  <a:lnTo>
                    <a:pt x="1782577" y="2128786"/>
                  </a:lnTo>
                  <a:lnTo>
                    <a:pt x="1832634" y="2124750"/>
                  </a:lnTo>
                  <a:lnTo>
                    <a:pt x="1882528" y="2119519"/>
                  </a:lnTo>
                  <a:lnTo>
                    <a:pt x="1932214" y="2113095"/>
                  </a:lnTo>
                  <a:lnTo>
                    <a:pt x="1981649" y="2105475"/>
                  </a:lnTo>
                  <a:lnTo>
                    <a:pt x="2030789" y="2096660"/>
                  </a:lnTo>
                  <a:lnTo>
                    <a:pt x="2079589" y="2086649"/>
                  </a:lnTo>
                  <a:lnTo>
                    <a:pt x="2128006" y="2075441"/>
                  </a:lnTo>
                  <a:lnTo>
                    <a:pt x="2175996" y="2063036"/>
                  </a:lnTo>
                  <a:lnTo>
                    <a:pt x="2223514" y="2049432"/>
                  </a:lnTo>
                  <a:lnTo>
                    <a:pt x="2270517" y="2034630"/>
                  </a:lnTo>
                  <a:lnTo>
                    <a:pt x="2316961" y="2018628"/>
                  </a:lnTo>
                  <a:lnTo>
                    <a:pt x="2362802" y="2001427"/>
                  </a:lnTo>
                  <a:lnTo>
                    <a:pt x="2407995" y="1983025"/>
                  </a:lnTo>
                  <a:lnTo>
                    <a:pt x="2452497" y="1963422"/>
                  </a:lnTo>
                  <a:lnTo>
                    <a:pt x="2501497" y="1940043"/>
                  </a:lnTo>
                  <a:lnTo>
                    <a:pt x="2548793" y="1915546"/>
                  </a:lnTo>
                  <a:lnTo>
                    <a:pt x="2594375" y="1889970"/>
                  </a:lnTo>
                  <a:lnTo>
                    <a:pt x="2638228" y="1863358"/>
                  </a:lnTo>
                  <a:lnTo>
                    <a:pt x="2680340" y="1835750"/>
                  </a:lnTo>
                  <a:lnTo>
                    <a:pt x="2720700" y="1807187"/>
                  </a:lnTo>
                  <a:lnTo>
                    <a:pt x="2759294" y="1777710"/>
                  </a:lnTo>
                  <a:lnTo>
                    <a:pt x="2796110" y="1747360"/>
                  </a:lnTo>
                  <a:lnTo>
                    <a:pt x="2831136" y="1716178"/>
                  </a:lnTo>
                  <a:lnTo>
                    <a:pt x="2864359" y="1684205"/>
                  </a:lnTo>
                  <a:lnTo>
                    <a:pt x="2895766" y="1651482"/>
                  </a:lnTo>
                  <a:lnTo>
                    <a:pt x="2925346" y="1618050"/>
                  </a:lnTo>
                  <a:lnTo>
                    <a:pt x="2953086" y="1583950"/>
                  </a:lnTo>
                  <a:lnTo>
                    <a:pt x="2978973" y="1549223"/>
                  </a:lnTo>
                  <a:lnTo>
                    <a:pt x="3002995" y="1513910"/>
                  </a:lnTo>
                  <a:lnTo>
                    <a:pt x="3025139" y="1478052"/>
                  </a:lnTo>
                  <a:lnTo>
                    <a:pt x="3045393" y="1441690"/>
                  </a:lnTo>
                  <a:lnTo>
                    <a:pt x="3063745" y="1404865"/>
                  </a:lnTo>
                  <a:lnTo>
                    <a:pt x="3080182" y="1367618"/>
                  </a:lnTo>
                  <a:lnTo>
                    <a:pt x="3094691" y="1329989"/>
                  </a:lnTo>
                  <a:lnTo>
                    <a:pt x="3107261" y="1292021"/>
                  </a:lnTo>
                  <a:lnTo>
                    <a:pt x="3117878" y="1253753"/>
                  </a:lnTo>
                  <a:lnTo>
                    <a:pt x="3126531" y="1215227"/>
                  </a:lnTo>
                  <a:lnTo>
                    <a:pt x="3133206" y="1176484"/>
                  </a:lnTo>
                  <a:lnTo>
                    <a:pt x="3137892" y="1137565"/>
                  </a:lnTo>
                  <a:lnTo>
                    <a:pt x="3140575" y="1098510"/>
                  </a:lnTo>
                  <a:lnTo>
                    <a:pt x="3141244" y="1059362"/>
                  </a:lnTo>
                  <a:lnTo>
                    <a:pt x="3139886" y="1020160"/>
                  </a:lnTo>
                  <a:lnTo>
                    <a:pt x="3136489" y="980946"/>
                  </a:lnTo>
                  <a:lnTo>
                    <a:pt x="3131039" y="941761"/>
                  </a:lnTo>
                  <a:lnTo>
                    <a:pt x="3123525" y="902645"/>
                  </a:lnTo>
                  <a:lnTo>
                    <a:pt x="3113935" y="863640"/>
                  </a:lnTo>
                  <a:lnTo>
                    <a:pt x="3102255" y="824787"/>
                  </a:lnTo>
                  <a:lnTo>
                    <a:pt x="3088473" y="786127"/>
                  </a:lnTo>
                  <a:lnTo>
                    <a:pt x="3072577" y="747700"/>
                  </a:lnTo>
                  <a:lnTo>
                    <a:pt x="3054554" y="709548"/>
                  </a:lnTo>
                  <a:lnTo>
                    <a:pt x="3034392" y="671711"/>
                  </a:lnTo>
                  <a:lnTo>
                    <a:pt x="3012079" y="634231"/>
                  </a:lnTo>
                  <a:lnTo>
                    <a:pt x="2987602" y="597149"/>
                  </a:lnTo>
                  <a:lnTo>
                    <a:pt x="2960948" y="560505"/>
                  </a:lnTo>
                  <a:lnTo>
                    <a:pt x="2932105" y="524341"/>
                  </a:lnTo>
                  <a:lnTo>
                    <a:pt x="2901061" y="488698"/>
                  </a:lnTo>
                  <a:lnTo>
                    <a:pt x="2871694" y="457579"/>
                  </a:lnTo>
                  <a:lnTo>
                    <a:pt x="2841063" y="427423"/>
                  </a:lnTo>
                  <a:lnTo>
                    <a:pt x="2809209" y="398238"/>
                  </a:lnTo>
                  <a:lnTo>
                    <a:pt x="2776174" y="370029"/>
                  </a:lnTo>
                  <a:lnTo>
                    <a:pt x="2741999" y="342802"/>
                  </a:lnTo>
                  <a:lnTo>
                    <a:pt x="2706724" y="316564"/>
                  </a:lnTo>
                  <a:lnTo>
                    <a:pt x="2670391" y="291322"/>
                  </a:lnTo>
                  <a:lnTo>
                    <a:pt x="2633041" y="267081"/>
                  </a:lnTo>
                  <a:lnTo>
                    <a:pt x="2594717" y="243848"/>
                  </a:lnTo>
                  <a:lnTo>
                    <a:pt x="2555457" y="221629"/>
                  </a:lnTo>
                  <a:lnTo>
                    <a:pt x="2515305" y="200431"/>
                  </a:lnTo>
                  <a:lnTo>
                    <a:pt x="2474301" y="180259"/>
                  </a:lnTo>
                  <a:lnTo>
                    <a:pt x="2432486" y="161121"/>
                  </a:lnTo>
                  <a:lnTo>
                    <a:pt x="2389902" y="143023"/>
                  </a:lnTo>
                  <a:lnTo>
                    <a:pt x="2346590" y="125970"/>
                  </a:lnTo>
                  <a:lnTo>
                    <a:pt x="2302591" y="109970"/>
                  </a:lnTo>
                  <a:lnTo>
                    <a:pt x="2257946" y="95028"/>
                  </a:lnTo>
                  <a:lnTo>
                    <a:pt x="2212697" y="81152"/>
                  </a:lnTo>
                  <a:lnTo>
                    <a:pt x="2166884" y="68346"/>
                  </a:lnTo>
                  <a:lnTo>
                    <a:pt x="2120549" y="56618"/>
                  </a:lnTo>
                  <a:lnTo>
                    <a:pt x="2073734" y="45974"/>
                  </a:lnTo>
                  <a:lnTo>
                    <a:pt x="2026479" y="36420"/>
                  </a:lnTo>
                  <a:lnTo>
                    <a:pt x="1978826" y="27963"/>
                  </a:lnTo>
                  <a:lnTo>
                    <a:pt x="1930816" y="20609"/>
                  </a:lnTo>
                  <a:lnTo>
                    <a:pt x="1882489" y="14364"/>
                  </a:lnTo>
                  <a:lnTo>
                    <a:pt x="1833888" y="9235"/>
                  </a:lnTo>
                  <a:lnTo>
                    <a:pt x="1785054" y="5227"/>
                  </a:lnTo>
                  <a:lnTo>
                    <a:pt x="1736028" y="2348"/>
                  </a:lnTo>
                  <a:lnTo>
                    <a:pt x="1686850" y="603"/>
                  </a:lnTo>
                  <a:lnTo>
                    <a:pt x="1637563" y="0"/>
                  </a:lnTo>
                  <a:close/>
                </a:path>
              </a:pathLst>
            </a:custGeom>
            <a:solidFill>
              <a:srgbClr val="EAF092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6"/>
            <p:cNvSpPr/>
            <p:nvPr/>
          </p:nvSpPr>
          <p:spPr>
            <a:xfrm>
              <a:off x="3790060" y="1142870"/>
              <a:ext cx="3141345" cy="2182495"/>
            </a:xfrm>
            <a:custGeom>
              <a:avLst/>
              <a:gdLst/>
              <a:ahLst/>
              <a:cxnLst/>
              <a:rect l="l" t="t" r="r" b="b"/>
              <a:pathLst>
                <a:path w="3141345" h="2182495">
                  <a:moveTo>
                    <a:pt x="0" y="2181989"/>
                  </a:moveTo>
                  <a:lnTo>
                    <a:pt x="374268" y="1645160"/>
                  </a:lnTo>
                  <a:lnTo>
                    <a:pt x="343224" y="1609516"/>
                  </a:lnTo>
                  <a:lnTo>
                    <a:pt x="314381" y="1573352"/>
                  </a:lnTo>
                  <a:lnTo>
                    <a:pt x="287727" y="1536709"/>
                  </a:lnTo>
                  <a:lnTo>
                    <a:pt x="263250" y="1499627"/>
                  </a:lnTo>
                  <a:lnTo>
                    <a:pt x="240937" y="1462147"/>
                  </a:lnTo>
                  <a:lnTo>
                    <a:pt x="220775" y="1424310"/>
                  </a:lnTo>
                  <a:lnTo>
                    <a:pt x="202752" y="1386158"/>
                  </a:lnTo>
                  <a:lnTo>
                    <a:pt x="186856" y="1347731"/>
                  </a:lnTo>
                  <a:lnTo>
                    <a:pt x="173074" y="1309071"/>
                  </a:lnTo>
                  <a:lnTo>
                    <a:pt x="161394" y="1270218"/>
                  </a:lnTo>
                  <a:lnTo>
                    <a:pt x="151804" y="1231213"/>
                  </a:lnTo>
                  <a:lnTo>
                    <a:pt x="144290" y="1192097"/>
                  </a:lnTo>
                  <a:lnTo>
                    <a:pt x="138840" y="1152912"/>
                  </a:lnTo>
                  <a:lnTo>
                    <a:pt x="135443" y="1113698"/>
                  </a:lnTo>
                  <a:lnTo>
                    <a:pt x="134085" y="1074496"/>
                  </a:lnTo>
                  <a:lnTo>
                    <a:pt x="134754" y="1035347"/>
                  </a:lnTo>
                  <a:lnTo>
                    <a:pt x="137437" y="996293"/>
                  </a:lnTo>
                  <a:lnTo>
                    <a:pt x="142123" y="957374"/>
                  </a:lnTo>
                  <a:lnTo>
                    <a:pt x="148798" y="918631"/>
                  </a:lnTo>
                  <a:lnTo>
                    <a:pt x="157451" y="880105"/>
                  </a:lnTo>
                  <a:lnTo>
                    <a:pt x="168068" y="841837"/>
                  </a:lnTo>
                  <a:lnTo>
                    <a:pt x="180638" y="803869"/>
                  </a:lnTo>
                  <a:lnTo>
                    <a:pt x="195147" y="766240"/>
                  </a:lnTo>
                  <a:lnTo>
                    <a:pt x="211584" y="728993"/>
                  </a:lnTo>
                  <a:lnTo>
                    <a:pt x="229936" y="692168"/>
                  </a:lnTo>
                  <a:lnTo>
                    <a:pt x="250190" y="655806"/>
                  </a:lnTo>
                  <a:lnTo>
                    <a:pt x="272334" y="619948"/>
                  </a:lnTo>
                  <a:lnTo>
                    <a:pt x="296356" y="584635"/>
                  </a:lnTo>
                  <a:lnTo>
                    <a:pt x="322243" y="549908"/>
                  </a:lnTo>
                  <a:lnTo>
                    <a:pt x="349983" y="515808"/>
                  </a:lnTo>
                  <a:lnTo>
                    <a:pt x="379563" y="482376"/>
                  </a:lnTo>
                  <a:lnTo>
                    <a:pt x="410970" y="449653"/>
                  </a:lnTo>
                  <a:lnTo>
                    <a:pt x="444193" y="417680"/>
                  </a:lnTo>
                  <a:lnTo>
                    <a:pt x="479219" y="386498"/>
                  </a:lnTo>
                  <a:lnTo>
                    <a:pt x="516035" y="356148"/>
                  </a:lnTo>
                  <a:lnTo>
                    <a:pt x="554629" y="326671"/>
                  </a:lnTo>
                  <a:lnTo>
                    <a:pt x="594989" y="298108"/>
                  </a:lnTo>
                  <a:lnTo>
                    <a:pt x="637101" y="270500"/>
                  </a:lnTo>
                  <a:lnTo>
                    <a:pt x="680954" y="243888"/>
                  </a:lnTo>
                  <a:lnTo>
                    <a:pt x="726536" y="218312"/>
                  </a:lnTo>
                  <a:lnTo>
                    <a:pt x="773832" y="193815"/>
                  </a:lnTo>
                  <a:lnTo>
                    <a:pt x="822833" y="170436"/>
                  </a:lnTo>
                  <a:lnTo>
                    <a:pt x="867678" y="150675"/>
                  </a:lnTo>
                  <a:lnTo>
                    <a:pt x="913115" y="132162"/>
                  </a:lnTo>
                  <a:lnTo>
                    <a:pt x="959102" y="114892"/>
                  </a:lnTo>
                  <a:lnTo>
                    <a:pt x="1005597" y="98858"/>
                  </a:lnTo>
                  <a:lnTo>
                    <a:pt x="1052560" y="84053"/>
                  </a:lnTo>
                  <a:lnTo>
                    <a:pt x="1099949" y="70471"/>
                  </a:lnTo>
                  <a:lnTo>
                    <a:pt x="1147722" y="58107"/>
                  </a:lnTo>
                  <a:lnTo>
                    <a:pt x="1195840" y="46953"/>
                  </a:lnTo>
                  <a:lnTo>
                    <a:pt x="1244260" y="37003"/>
                  </a:lnTo>
                  <a:lnTo>
                    <a:pt x="1292941" y="28252"/>
                  </a:lnTo>
                  <a:lnTo>
                    <a:pt x="1341842" y="20691"/>
                  </a:lnTo>
                  <a:lnTo>
                    <a:pt x="1390923" y="14317"/>
                  </a:lnTo>
                  <a:lnTo>
                    <a:pt x="1440140" y="9121"/>
                  </a:lnTo>
                  <a:lnTo>
                    <a:pt x="1489454" y="5097"/>
                  </a:lnTo>
                  <a:lnTo>
                    <a:pt x="1538824" y="2240"/>
                  </a:lnTo>
                  <a:lnTo>
                    <a:pt x="1588207" y="543"/>
                  </a:lnTo>
                  <a:lnTo>
                    <a:pt x="1637563" y="0"/>
                  </a:lnTo>
                  <a:lnTo>
                    <a:pt x="1686850" y="603"/>
                  </a:lnTo>
                  <a:lnTo>
                    <a:pt x="1736028" y="2348"/>
                  </a:lnTo>
                  <a:lnTo>
                    <a:pt x="1785054" y="5227"/>
                  </a:lnTo>
                  <a:lnTo>
                    <a:pt x="1833888" y="9235"/>
                  </a:lnTo>
                  <a:lnTo>
                    <a:pt x="1882489" y="14364"/>
                  </a:lnTo>
                  <a:lnTo>
                    <a:pt x="1930816" y="20609"/>
                  </a:lnTo>
                  <a:lnTo>
                    <a:pt x="1978826" y="27963"/>
                  </a:lnTo>
                  <a:lnTo>
                    <a:pt x="2026479" y="36420"/>
                  </a:lnTo>
                  <a:lnTo>
                    <a:pt x="2073734" y="45974"/>
                  </a:lnTo>
                  <a:lnTo>
                    <a:pt x="2120549" y="56618"/>
                  </a:lnTo>
                  <a:lnTo>
                    <a:pt x="2166884" y="68346"/>
                  </a:lnTo>
                  <a:lnTo>
                    <a:pt x="2212697" y="81152"/>
                  </a:lnTo>
                  <a:lnTo>
                    <a:pt x="2257946" y="95028"/>
                  </a:lnTo>
                  <a:lnTo>
                    <a:pt x="2302591" y="109970"/>
                  </a:lnTo>
                  <a:lnTo>
                    <a:pt x="2346590" y="125970"/>
                  </a:lnTo>
                  <a:lnTo>
                    <a:pt x="2389902" y="143023"/>
                  </a:lnTo>
                  <a:lnTo>
                    <a:pt x="2432486" y="161121"/>
                  </a:lnTo>
                  <a:lnTo>
                    <a:pt x="2474301" y="180259"/>
                  </a:lnTo>
                  <a:lnTo>
                    <a:pt x="2515305" y="200431"/>
                  </a:lnTo>
                  <a:lnTo>
                    <a:pt x="2555457" y="221629"/>
                  </a:lnTo>
                  <a:lnTo>
                    <a:pt x="2594717" y="243848"/>
                  </a:lnTo>
                  <a:lnTo>
                    <a:pt x="2633041" y="267081"/>
                  </a:lnTo>
                  <a:lnTo>
                    <a:pt x="2670391" y="291322"/>
                  </a:lnTo>
                  <a:lnTo>
                    <a:pt x="2706724" y="316564"/>
                  </a:lnTo>
                  <a:lnTo>
                    <a:pt x="2741999" y="342802"/>
                  </a:lnTo>
                  <a:lnTo>
                    <a:pt x="2776174" y="370029"/>
                  </a:lnTo>
                  <a:lnTo>
                    <a:pt x="2809209" y="398238"/>
                  </a:lnTo>
                  <a:lnTo>
                    <a:pt x="2841063" y="427423"/>
                  </a:lnTo>
                  <a:lnTo>
                    <a:pt x="2871694" y="457579"/>
                  </a:lnTo>
                  <a:lnTo>
                    <a:pt x="2901061" y="488698"/>
                  </a:lnTo>
                  <a:lnTo>
                    <a:pt x="2932105" y="524341"/>
                  </a:lnTo>
                  <a:lnTo>
                    <a:pt x="2960948" y="560505"/>
                  </a:lnTo>
                  <a:lnTo>
                    <a:pt x="2987602" y="597149"/>
                  </a:lnTo>
                  <a:lnTo>
                    <a:pt x="3012079" y="634231"/>
                  </a:lnTo>
                  <a:lnTo>
                    <a:pt x="3034392" y="671711"/>
                  </a:lnTo>
                  <a:lnTo>
                    <a:pt x="3054554" y="709548"/>
                  </a:lnTo>
                  <a:lnTo>
                    <a:pt x="3072577" y="747700"/>
                  </a:lnTo>
                  <a:lnTo>
                    <a:pt x="3088473" y="786127"/>
                  </a:lnTo>
                  <a:lnTo>
                    <a:pt x="3102255" y="824787"/>
                  </a:lnTo>
                  <a:lnTo>
                    <a:pt x="3113935" y="863640"/>
                  </a:lnTo>
                  <a:lnTo>
                    <a:pt x="3123525" y="902645"/>
                  </a:lnTo>
                  <a:lnTo>
                    <a:pt x="3131039" y="941761"/>
                  </a:lnTo>
                  <a:lnTo>
                    <a:pt x="3136489" y="980946"/>
                  </a:lnTo>
                  <a:lnTo>
                    <a:pt x="3139886" y="1020160"/>
                  </a:lnTo>
                  <a:lnTo>
                    <a:pt x="3141244" y="1059362"/>
                  </a:lnTo>
                  <a:lnTo>
                    <a:pt x="3140575" y="1098510"/>
                  </a:lnTo>
                  <a:lnTo>
                    <a:pt x="3137892" y="1137565"/>
                  </a:lnTo>
                  <a:lnTo>
                    <a:pt x="3133206" y="1176484"/>
                  </a:lnTo>
                  <a:lnTo>
                    <a:pt x="3126531" y="1215227"/>
                  </a:lnTo>
                  <a:lnTo>
                    <a:pt x="3117878" y="1253753"/>
                  </a:lnTo>
                  <a:lnTo>
                    <a:pt x="3107261" y="1292021"/>
                  </a:lnTo>
                  <a:lnTo>
                    <a:pt x="3094691" y="1329989"/>
                  </a:lnTo>
                  <a:lnTo>
                    <a:pt x="3080182" y="1367618"/>
                  </a:lnTo>
                  <a:lnTo>
                    <a:pt x="3063745" y="1404865"/>
                  </a:lnTo>
                  <a:lnTo>
                    <a:pt x="3045393" y="1441690"/>
                  </a:lnTo>
                  <a:lnTo>
                    <a:pt x="3025139" y="1478052"/>
                  </a:lnTo>
                  <a:lnTo>
                    <a:pt x="3002995" y="1513910"/>
                  </a:lnTo>
                  <a:lnTo>
                    <a:pt x="2978973" y="1549223"/>
                  </a:lnTo>
                  <a:lnTo>
                    <a:pt x="2953086" y="1583950"/>
                  </a:lnTo>
                  <a:lnTo>
                    <a:pt x="2925346" y="1618050"/>
                  </a:lnTo>
                  <a:lnTo>
                    <a:pt x="2895766" y="1651482"/>
                  </a:lnTo>
                  <a:lnTo>
                    <a:pt x="2864359" y="1684205"/>
                  </a:lnTo>
                  <a:lnTo>
                    <a:pt x="2831136" y="1716178"/>
                  </a:lnTo>
                  <a:lnTo>
                    <a:pt x="2796110" y="1747360"/>
                  </a:lnTo>
                  <a:lnTo>
                    <a:pt x="2759294" y="1777710"/>
                  </a:lnTo>
                  <a:lnTo>
                    <a:pt x="2720700" y="1807187"/>
                  </a:lnTo>
                  <a:lnTo>
                    <a:pt x="2680340" y="1835750"/>
                  </a:lnTo>
                  <a:lnTo>
                    <a:pt x="2638228" y="1863358"/>
                  </a:lnTo>
                  <a:lnTo>
                    <a:pt x="2594375" y="1889970"/>
                  </a:lnTo>
                  <a:lnTo>
                    <a:pt x="2548793" y="1915546"/>
                  </a:lnTo>
                  <a:lnTo>
                    <a:pt x="2501497" y="1940043"/>
                  </a:lnTo>
                  <a:lnTo>
                    <a:pt x="2452497" y="1963422"/>
                  </a:lnTo>
                  <a:lnTo>
                    <a:pt x="2407995" y="1983025"/>
                  </a:lnTo>
                  <a:lnTo>
                    <a:pt x="2362802" y="2001427"/>
                  </a:lnTo>
                  <a:lnTo>
                    <a:pt x="2316961" y="2018628"/>
                  </a:lnTo>
                  <a:lnTo>
                    <a:pt x="2270517" y="2034630"/>
                  </a:lnTo>
                  <a:lnTo>
                    <a:pt x="2223514" y="2049432"/>
                  </a:lnTo>
                  <a:lnTo>
                    <a:pt x="2175996" y="2063036"/>
                  </a:lnTo>
                  <a:lnTo>
                    <a:pt x="2128006" y="2075441"/>
                  </a:lnTo>
                  <a:lnTo>
                    <a:pt x="2079589" y="2086649"/>
                  </a:lnTo>
                  <a:lnTo>
                    <a:pt x="2030789" y="2096660"/>
                  </a:lnTo>
                  <a:lnTo>
                    <a:pt x="1981649" y="2105475"/>
                  </a:lnTo>
                  <a:lnTo>
                    <a:pt x="1932214" y="2113095"/>
                  </a:lnTo>
                  <a:lnTo>
                    <a:pt x="1882528" y="2119519"/>
                  </a:lnTo>
                  <a:lnTo>
                    <a:pt x="1832634" y="2124750"/>
                  </a:lnTo>
                  <a:lnTo>
                    <a:pt x="1782577" y="2128786"/>
                  </a:lnTo>
                  <a:lnTo>
                    <a:pt x="1732400" y="2131630"/>
                  </a:lnTo>
                  <a:lnTo>
                    <a:pt x="1682148" y="2133281"/>
                  </a:lnTo>
                  <a:lnTo>
                    <a:pt x="1631864" y="2133740"/>
                  </a:lnTo>
                  <a:lnTo>
                    <a:pt x="1581593" y="2133008"/>
                  </a:lnTo>
                  <a:lnTo>
                    <a:pt x="1531378" y="2131085"/>
                  </a:lnTo>
                  <a:lnTo>
                    <a:pt x="1481264" y="2127972"/>
                  </a:lnTo>
                  <a:lnTo>
                    <a:pt x="1431295" y="2123671"/>
                  </a:lnTo>
                  <a:lnTo>
                    <a:pt x="1381513" y="2118180"/>
                  </a:lnTo>
                  <a:lnTo>
                    <a:pt x="1331965" y="2111501"/>
                  </a:lnTo>
                  <a:lnTo>
                    <a:pt x="1282693" y="2103635"/>
                  </a:lnTo>
                  <a:lnTo>
                    <a:pt x="1233741" y="2094582"/>
                  </a:lnTo>
                  <a:lnTo>
                    <a:pt x="1185153" y="2084343"/>
                  </a:lnTo>
                  <a:lnTo>
                    <a:pt x="1136975" y="2072918"/>
                  </a:lnTo>
                  <a:lnTo>
                    <a:pt x="1089248" y="2060308"/>
                  </a:lnTo>
                  <a:lnTo>
                    <a:pt x="1042018" y="2046513"/>
                  </a:lnTo>
                  <a:lnTo>
                    <a:pt x="995328" y="2031535"/>
                  </a:lnTo>
                  <a:lnTo>
                    <a:pt x="949223" y="2015374"/>
                  </a:lnTo>
                  <a:lnTo>
                    <a:pt x="903746" y="1998031"/>
                  </a:lnTo>
                  <a:lnTo>
                    <a:pt x="858941" y="1979505"/>
                  </a:lnTo>
                  <a:lnTo>
                    <a:pt x="814853" y="1959798"/>
                  </a:lnTo>
                  <a:lnTo>
                    <a:pt x="771525" y="1938911"/>
                  </a:lnTo>
                  <a:lnTo>
                    <a:pt x="0" y="2181989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8" name="object 7"/>
            <p:cNvSpPr/>
            <p:nvPr/>
          </p:nvSpPr>
          <p:spPr>
            <a:xfrm>
              <a:off x="1164082" y="1978251"/>
              <a:ext cx="2455164" cy="212293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9" name="object 8"/>
          <p:cNvSpPr txBox="1"/>
          <p:nvPr/>
        </p:nvSpPr>
        <p:spPr>
          <a:xfrm>
            <a:off x="8914553" y="0"/>
            <a:ext cx="3277447" cy="1739601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086" marR="6773" algn="ctr">
              <a:spcBef>
                <a:spcPts val="127"/>
              </a:spcBef>
            </a:pPr>
            <a:r>
              <a:rPr sz="2400" dirty="0">
                <a:solidFill>
                  <a:srgbClr val="292929"/>
                </a:solidFill>
                <a:latin typeface="Trebuchet MS"/>
                <a:cs typeface="Trebuchet MS"/>
              </a:rPr>
              <a:t>As </a:t>
            </a:r>
            <a:r>
              <a:rPr sz="2400" spc="7" dirty="0">
                <a:solidFill>
                  <a:srgbClr val="292929"/>
                </a:solidFill>
                <a:latin typeface="Trebuchet MS"/>
                <a:cs typeface="Trebuchet MS"/>
              </a:rPr>
              <a:t>a </a:t>
            </a:r>
            <a:r>
              <a:rPr sz="2400" spc="-167" dirty="0">
                <a:solidFill>
                  <a:srgbClr val="292929"/>
                </a:solidFill>
                <a:latin typeface="Trebuchet MS"/>
                <a:cs typeface="Trebuchet MS"/>
              </a:rPr>
              <a:t>(</a:t>
            </a:r>
            <a:r>
              <a:rPr sz="3733" spc="-167" dirty="0">
                <a:solidFill>
                  <a:srgbClr val="292929"/>
                </a:solidFill>
                <a:latin typeface="Trebuchet MS"/>
                <a:cs typeface="Trebuchet MS"/>
              </a:rPr>
              <a:t>role</a:t>
            </a:r>
            <a:r>
              <a:rPr sz="2400" spc="-167" dirty="0">
                <a:solidFill>
                  <a:srgbClr val="292929"/>
                </a:solidFill>
                <a:latin typeface="Trebuchet MS"/>
                <a:cs typeface="Trebuchet MS"/>
              </a:rPr>
              <a:t>) </a:t>
            </a:r>
            <a:r>
              <a:rPr sz="2400" spc="-73" dirty="0">
                <a:solidFill>
                  <a:srgbClr val="292929"/>
                </a:solidFill>
                <a:latin typeface="Trebuchet MS"/>
                <a:cs typeface="Trebuchet MS"/>
              </a:rPr>
              <a:t>I </a:t>
            </a:r>
            <a:r>
              <a:rPr sz="2400" spc="-113" dirty="0">
                <a:solidFill>
                  <a:srgbClr val="292929"/>
                </a:solidFill>
                <a:latin typeface="Trebuchet MS"/>
                <a:cs typeface="Trebuchet MS"/>
              </a:rPr>
              <a:t>want  </a:t>
            </a:r>
            <a:r>
              <a:rPr sz="2400" spc="-87" dirty="0">
                <a:solidFill>
                  <a:srgbClr val="292929"/>
                </a:solidFill>
                <a:latin typeface="Trebuchet MS"/>
                <a:cs typeface="Trebuchet MS"/>
              </a:rPr>
              <a:t>(</a:t>
            </a:r>
            <a:r>
              <a:rPr lang="en-US" sz="3733" spc="-87" dirty="0">
                <a:solidFill>
                  <a:srgbClr val="292929"/>
                </a:solidFill>
                <a:latin typeface="Trebuchet MS"/>
                <a:cs typeface="Trebuchet MS"/>
              </a:rPr>
              <a:t>feature</a:t>
            </a:r>
            <a:r>
              <a:rPr sz="2400" spc="-87" dirty="0">
                <a:solidFill>
                  <a:srgbClr val="292929"/>
                </a:solidFill>
                <a:latin typeface="Trebuchet MS"/>
                <a:cs typeface="Trebuchet MS"/>
              </a:rPr>
              <a:t>) </a:t>
            </a:r>
            <a:r>
              <a:rPr sz="2400" spc="47" dirty="0">
                <a:solidFill>
                  <a:srgbClr val="292929"/>
                </a:solidFill>
                <a:latin typeface="Trebuchet MS"/>
                <a:cs typeface="Trebuchet MS"/>
              </a:rPr>
              <a:t>so</a:t>
            </a:r>
            <a:r>
              <a:rPr sz="2400" spc="-333" dirty="0">
                <a:solidFill>
                  <a:srgbClr val="292929"/>
                </a:solidFill>
                <a:latin typeface="Trebuchet MS"/>
                <a:cs typeface="Trebuchet MS"/>
              </a:rPr>
              <a:t> </a:t>
            </a:r>
            <a:r>
              <a:rPr sz="2400" spc="-113" dirty="0">
                <a:solidFill>
                  <a:srgbClr val="292929"/>
                </a:solidFill>
                <a:latin typeface="Trebuchet MS"/>
                <a:cs typeface="Trebuchet MS"/>
              </a:rPr>
              <a:t>that  </a:t>
            </a:r>
            <a:r>
              <a:rPr sz="2400" spc="-167" dirty="0">
                <a:solidFill>
                  <a:srgbClr val="292929"/>
                </a:solidFill>
                <a:latin typeface="Trebuchet MS"/>
                <a:cs typeface="Trebuchet MS"/>
              </a:rPr>
              <a:t>(</a:t>
            </a:r>
            <a:r>
              <a:rPr sz="3733" spc="-167" dirty="0">
                <a:solidFill>
                  <a:srgbClr val="292929"/>
                </a:solidFill>
                <a:latin typeface="Trebuchet MS"/>
                <a:cs typeface="Trebuchet MS"/>
              </a:rPr>
              <a:t>benefit</a:t>
            </a:r>
            <a:r>
              <a:rPr sz="2400" spc="-167" dirty="0">
                <a:solidFill>
                  <a:srgbClr val="292929"/>
                </a:solidFill>
                <a:latin typeface="Trebuchet MS"/>
                <a:cs typeface="Trebuchet MS"/>
              </a:rPr>
              <a:t>).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2" name="object 8">
            <a:extLst>
              <a:ext uri="{FF2B5EF4-FFF2-40B4-BE49-F238E27FC236}">
                <a16:creationId xmlns:a16="http://schemas.microsoft.com/office/drawing/2014/main" id="{4585A498-3D95-A748-2AE9-C01CC65FF942}"/>
              </a:ext>
            </a:extLst>
          </p:cNvPr>
          <p:cNvSpPr txBox="1"/>
          <p:nvPr/>
        </p:nvSpPr>
        <p:spPr>
          <a:xfrm>
            <a:off x="8254586" y="3431784"/>
            <a:ext cx="3277447" cy="1493572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086" marR="6773" algn="ctr">
              <a:spcBef>
                <a:spcPts val="127"/>
              </a:spcBef>
            </a:pPr>
            <a:r>
              <a:rPr lang="en-US" sz="2400" dirty="0">
                <a:solidFill>
                  <a:srgbClr val="292929"/>
                </a:solidFill>
                <a:latin typeface="Trebuchet MS"/>
                <a:cs typeface="Trebuchet MS"/>
              </a:rPr>
              <a:t>As a customer, I want to track my order so that I know delivery status</a:t>
            </a:r>
            <a:endParaRPr sz="24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40627338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7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759428"/>
          </a:xfrm>
          <a:prstGeom prst="rect">
            <a:avLst/>
          </a:prstGeom>
          <a:solidFill>
            <a:srgbClr val="92D050"/>
          </a:solidFill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br>
              <a:rPr lang="en-US" sz="4800" dirty="0">
                <a:latin typeface="Impact" panose="020B0806030902050204" pitchFamily="34" charset="0"/>
              </a:rPr>
            </a:br>
            <a:r>
              <a:rPr lang="en-US" sz="4800" dirty="0">
                <a:latin typeface="Impact" panose="020B0806030902050204" pitchFamily="34" charset="0"/>
              </a:rPr>
              <a:t>	</a:t>
            </a:r>
            <a:r>
              <a:rPr lang="en-US" b="1" dirty="0"/>
              <a:t>Sprint Backlog</a:t>
            </a:r>
          </a:p>
        </p:txBody>
      </p:sp>
      <p:sp>
        <p:nvSpPr>
          <p:cNvPr id="595" name="Google Shape;595;p17"/>
          <p:cNvSpPr txBox="1">
            <a:spLocks noGrp="1"/>
          </p:cNvSpPr>
          <p:nvPr>
            <p:ph type="body" idx="1"/>
          </p:nvPr>
        </p:nvSpPr>
        <p:spPr>
          <a:xfrm>
            <a:off x="956520" y="1597936"/>
            <a:ext cx="10877848" cy="4806929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>
              <a:lnSpc>
                <a:spcPct val="200000"/>
              </a:lnSpc>
            </a:pPr>
            <a:r>
              <a:rPr lang="en-US" sz="2400" dirty="0">
                <a:latin typeface="Barlow" panose="020B0604020202020204" charset="0"/>
              </a:rPr>
              <a:t>Created by the scrum team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Barlow" panose="020B0604020202020204" charset="0"/>
              </a:rPr>
              <a:t>Includes the list of user stories that need be completed in a given sprint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Barlow" panose="020B0604020202020204" charset="0"/>
              </a:rPr>
              <a:t>Should not have more than 300 tasks in the list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Barlow" panose="020B0604020202020204" charset="0"/>
              </a:rPr>
              <a:t>If a task requires more than 16 hours, it should be broken down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Barlow" panose="020B0604020202020204" charset="0"/>
              </a:rPr>
              <a:t>Revised daily</a:t>
            </a:r>
          </a:p>
        </p:txBody>
      </p:sp>
      <p:sp>
        <p:nvSpPr>
          <p:cNvPr id="596" name="Google Shape;596;p1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algn="r"/>
            <a:fld id="{00000000-1234-1234-1234-123412341234}" type="slidenum">
              <a:rPr lang="en"/>
              <a:pPr algn="r"/>
              <a:t>15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75865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7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759428"/>
          </a:xfrm>
          <a:prstGeom prst="rect">
            <a:avLst/>
          </a:prstGeom>
          <a:solidFill>
            <a:srgbClr val="92D050"/>
          </a:solidFill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br>
              <a:rPr lang="en-US" sz="4800" dirty="0">
                <a:latin typeface="Impact" panose="020B0806030902050204" pitchFamily="34" charset="0"/>
              </a:rPr>
            </a:br>
            <a:r>
              <a:rPr lang="en-US" sz="4800" dirty="0">
                <a:latin typeface="Impact" panose="020B0806030902050204" pitchFamily="34" charset="0"/>
              </a:rPr>
              <a:t>	</a:t>
            </a:r>
            <a:r>
              <a:rPr lang="en-US" b="1" dirty="0"/>
              <a:t>Product Backlog</a:t>
            </a:r>
          </a:p>
        </p:txBody>
      </p:sp>
      <p:sp>
        <p:nvSpPr>
          <p:cNvPr id="596" name="Google Shape;596;p1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algn="r"/>
            <a:fld id="{00000000-1234-1234-1234-123412341234}" type="slidenum">
              <a:rPr lang="en"/>
              <a:pPr algn="r"/>
              <a:t>16</a:t>
            </a:fld>
            <a:endParaRPr dirty="0"/>
          </a:p>
        </p:txBody>
      </p:sp>
      <p:grpSp>
        <p:nvGrpSpPr>
          <p:cNvPr id="7" name="object 5"/>
          <p:cNvGrpSpPr/>
          <p:nvPr/>
        </p:nvGrpSpPr>
        <p:grpSpPr>
          <a:xfrm>
            <a:off x="933122" y="1759427"/>
            <a:ext cx="10397311" cy="5098572"/>
            <a:chOff x="228600" y="1524000"/>
            <a:chExt cx="8686800" cy="5029200"/>
          </a:xfrm>
        </p:grpSpPr>
        <p:sp>
          <p:nvSpPr>
            <p:cNvPr id="8" name="object 6"/>
            <p:cNvSpPr/>
            <p:nvPr/>
          </p:nvSpPr>
          <p:spPr>
            <a:xfrm>
              <a:off x="228600" y="1524000"/>
              <a:ext cx="8686800" cy="5029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9" name="object 7"/>
            <p:cNvSpPr/>
            <p:nvPr/>
          </p:nvSpPr>
          <p:spPr>
            <a:xfrm>
              <a:off x="6172200" y="1524000"/>
              <a:ext cx="2514600" cy="457200"/>
            </a:xfrm>
            <a:custGeom>
              <a:avLst/>
              <a:gdLst/>
              <a:ahLst/>
              <a:cxnLst/>
              <a:rect l="l" t="t" r="r" b="b"/>
              <a:pathLst>
                <a:path w="2514600" h="457200">
                  <a:moveTo>
                    <a:pt x="25146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2514600" y="457200"/>
                  </a:lnTo>
                  <a:lnTo>
                    <a:pt x="2514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7325890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7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759428"/>
          </a:xfrm>
          <a:prstGeom prst="rect">
            <a:avLst/>
          </a:prstGeom>
          <a:solidFill>
            <a:srgbClr val="92D050"/>
          </a:solidFill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br>
              <a:rPr lang="en-US" sz="4800" dirty="0">
                <a:latin typeface="Impact" panose="020B0806030902050204" pitchFamily="34" charset="0"/>
              </a:rPr>
            </a:br>
            <a:r>
              <a:rPr lang="en-US" sz="4800" dirty="0">
                <a:latin typeface="Impact" panose="020B0806030902050204" pitchFamily="34" charset="0"/>
              </a:rPr>
              <a:t>	</a:t>
            </a:r>
            <a:r>
              <a:rPr lang="en-US" b="1" dirty="0"/>
              <a:t>Sprint Backlog</a:t>
            </a:r>
          </a:p>
        </p:txBody>
      </p:sp>
      <p:sp>
        <p:nvSpPr>
          <p:cNvPr id="596" name="Google Shape;596;p1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algn="r"/>
            <a:fld id="{00000000-1234-1234-1234-123412341234}" type="slidenum">
              <a:rPr lang="en"/>
              <a:pPr algn="r"/>
              <a:t>17</a:t>
            </a:fld>
            <a:endParaRPr dirty="0"/>
          </a:p>
        </p:txBody>
      </p:sp>
      <p:sp>
        <p:nvSpPr>
          <p:cNvPr id="10" name="object 5"/>
          <p:cNvSpPr/>
          <p:nvPr/>
        </p:nvSpPr>
        <p:spPr>
          <a:xfrm>
            <a:off x="975361" y="1708562"/>
            <a:ext cx="9916159" cy="50985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8118143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>
          <a:extLst>
            <a:ext uri="{FF2B5EF4-FFF2-40B4-BE49-F238E27FC236}">
              <a16:creationId xmlns:a16="http://schemas.microsoft.com/office/drawing/2014/main" id="{FC5D004F-A3A6-3740-E0EB-CA015B983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7">
            <a:extLst>
              <a:ext uri="{FF2B5EF4-FFF2-40B4-BE49-F238E27FC236}">
                <a16:creationId xmlns:a16="http://schemas.microsoft.com/office/drawing/2014/main" id="{FD1EEE52-24FB-7529-D1AE-EF55CB430D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759428"/>
          </a:xfrm>
          <a:prstGeom prst="rect">
            <a:avLst/>
          </a:prstGeom>
          <a:solidFill>
            <a:srgbClr val="92D050"/>
          </a:solidFill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br>
              <a:rPr lang="en-US" sz="4800" dirty="0">
                <a:latin typeface="Impact" panose="020B0806030902050204" pitchFamily="34" charset="0"/>
              </a:rPr>
            </a:br>
            <a:r>
              <a:rPr lang="en-US" sz="4800" dirty="0">
                <a:latin typeface="Impact" panose="020B0806030902050204" pitchFamily="34" charset="0"/>
              </a:rPr>
              <a:t>	</a:t>
            </a:r>
            <a:r>
              <a:rPr lang="en-US" b="1" dirty="0"/>
              <a:t>Sprint Backlog</a:t>
            </a:r>
          </a:p>
        </p:txBody>
      </p:sp>
      <p:sp>
        <p:nvSpPr>
          <p:cNvPr id="595" name="Google Shape;595;p17">
            <a:extLst>
              <a:ext uri="{FF2B5EF4-FFF2-40B4-BE49-F238E27FC236}">
                <a16:creationId xmlns:a16="http://schemas.microsoft.com/office/drawing/2014/main" id="{97D7F22B-1179-9B69-30DD-5ADB46D4B7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56520" y="1501684"/>
            <a:ext cx="11235480" cy="4979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>
              <a:lnSpc>
                <a:spcPct val="200000"/>
              </a:lnSpc>
            </a:pPr>
            <a:r>
              <a:rPr lang="en-US" sz="2400" dirty="0">
                <a:latin typeface="Barlow" panose="020B0604020202020204" charset="0"/>
              </a:rPr>
              <a:t>Commitment : </a:t>
            </a:r>
            <a:r>
              <a:rPr lang="en-US" sz="2400" b="1" dirty="0">
                <a:latin typeface="Barlow" panose="020B0604020202020204" charset="0"/>
              </a:rPr>
              <a:t>Sprint goal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Barlow" panose="020B0604020202020204" charset="0"/>
              </a:rPr>
              <a:t>Single objective for the Sprint which describes commitment required  by the developers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Barlow" panose="020B0604020202020204" charset="0"/>
              </a:rPr>
              <a:t>Provides coherence and focus, encouraging the Scrum team to works together.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Barlow" panose="020B0604020202020204" charset="0"/>
              </a:rPr>
              <a:t>Created during the Sprint planning event and added to the Sprint Backlog. </a:t>
            </a:r>
          </a:p>
          <a:p>
            <a:pPr>
              <a:lnSpc>
                <a:spcPct val="200000"/>
              </a:lnSpc>
            </a:pPr>
            <a:endParaRPr lang="en-US" sz="2400" dirty="0">
              <a:latin typeface="Barlow" panose="020B0604020202020204" charset="0"/>
            </a:endParaRPr>
          </a:p>
        </p:txBody>
      </p:sp>
      <p:sp>
        <p:nvSpPr>
          <p:cNvPr id="596" name="Google Shape;596;p17">
            <a:extLst>
              <a:ext uri="{FF2B5EF4-FFF2-40B4-BE49-F238E27FC236}">
                <a16:creationId xmlns:a16="http://schemas.microsoft.com/office/drawing/2014/main" id="{56087CD4-2AD1-AD62-44F5-B170C5710D1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algn="r"/>
            <a:fld id="{00000000-1234-1234-1234-123412341234}" type="slidenum">
              <a:rPr lang="en"/>
              <a:pPr algn="r"/>
              <a:t>18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943130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7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759428"/>
          </a:xfrm>
          <a:prstGeom prst="rect">
            <a:avLst/>
          </a:prstGeom>
          <a:solidFill>
            <a:srgbClr val="92D050"/>
          </a:solidFill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br>
              <a:rPr lang="en-US" sz="4800" dirty="0">
                <a:latin typeface="Impact" panose="020B0806030902050204" pitchFamily="34" charset="0"/>
              </a:rPr>
            </a:br>
            <a:r>
              <a:rPr lang="en-US" sz="4800" dirty="0">
                <a:latin typeface="Impact" panose="020B0806030902050204" pitchFamily="34" charset="0"/>
              </a:rPr>
              <a:t>	</a:t>
            </a:r>
            <a:r>
              <a:rPr lang="en-US" b="1" dirty="0" err="1"/>
              <a:t>Burndown</a:t>
            </a:r>
            <a:r>
              <a:rPr lang="en-US" b="1" dirty="0"/>
              <a:t> Chart</a:t>
            </a:r>
          </a:p>
        </p:txBody>
      </p:sp>
      <p:sp>
        <p:nvSpPr>
          <p:cNvPr id="595" name="Google Shape;595;p17"/>
          <p:cNvSpPr txBox="1">
            <a:spLocks noGrp="1"/>
          </p:cNvSpPr>
          <p:nvPr>
            <p:ph type="body" idx="1"/>
          </p:nvPr>
        </p:nvSpPr>
        <p:spPr>
          <a:xfrm>
            <a:off x="956520" y="1597936"/>
            <a:ext cx="10877848" cy="4806929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>
              <a:lnSpc>
                <a:spcPct val="200000"/>
              </a:lnSpc>
            </a:pPr>
            <a:r>
              <a:rPr lang="en-US" sz="2400" dirty="0">
                <a:latin typeface="Barlow" panose="020B0604020202020204" charset="0"/>
              </a:rPr>
              <a:t>Used to monitor the progress of each sprint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Barlow" panose="020B0604020202020204" charset="0"/>
              </a:rPr>
              <a:t>Shows how much work is remaining daily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Barlow" panose="020B0604020202020204" charset="0"/>
              </a:rPr>
              <a:t>Shows the estimated amount of time to release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Barlow" panose="020B0604020202020204" charset="0"/>
              </a:rPr>
              <a:t>Should burn down to zero at the end of the sprint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Barlow" panose="020B0604020202020204" charset="0"/>
              </a:rPr>
              <a:t>Best project visibility tools</a:t>
            </a:r>
          </a:p>
        </p:txBody>
      </p:sp>
      <p:sp>
        <p:nvSpPr>
          <p:cNvPr id="596" name="Google Shape;596;p1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algn="r"/>
            <a:fld id="{00000000-1234-1234-1234-123412341234}" type="slidenum">
              <a:rPr lang="en"/>
              <a:pPr algn="r"/>
              <a:t>19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403213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7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759428"/>
          </a:xfrm>
          <a:prstGeom prst="rect">
            <a:avLst/>
          </a:prstGeom>
          <a:solidFill>
            <a:srgbClr val="92D050"/>
          </a:solidFill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br>
              <a:rPr lang="en-US" sz="4800" dirty="0">
                <a:latin typeface="Impact" panose="020B0806030902050204" pitchFamily="34" charset="0"/>
              </a:rPr>
            </a:br>
            <a:r>
              <a:rPr lang="en-US" sz="4800" dirty="0">
                <a:latin typeface="Impact" panose="020B0806030902050204" pitchFamily="34" charset="0"/>
              </a:rPr>
              <a:t>	</a:t>
            </a:r>
            <a:r>
              <a:rPr lang="en-US" b="1" dirty="0" err="1"/>
              <a:t>Burndown</a:t>
            </a:r>
            <a:r>
              <a:rPr lang="en-US" b="1" dirty="0"/>
              <a:t> Chart</a:t>
            </a:r>
          </a:p>
        </p:txBody>
      </p:sp>
      <p:sp>
        <p:nvSpPr>
          <p:cNvPr id="596" name="Google Shape;596;p1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algn="r"/>
            <a:fld id="{00000000-1234-1234-1234-123412341234}" type="slidenum">
              <a:rPr lang="en"/>
              <a:pPr algn="r"/>
              <a:t>20</a:t>
            </a:fld>
            <a:endParaRPr dirty="0"/>
          </a:p>
        </p:txBody>
      </p:sp>
      <p:grpSp>
        <p:nvGrpSpPr>
          <p:cNvPr id="5" name="object 9"/>
          <p:cNvGrpSpPr/>
          <p:nvPr/>
        </p:nvGrpSpPr>
        <p:grpSpPr>
          <a:xfrm>
            <a:off x="1416304" y="1934465"/>
            <a:ext cx="9117584" cy="4872668"/>
            <a:chOff x="38100" y="1257300"/>
            <a:chExt cx="9067800" cy="5314950"/>
          </a:xfrm>
        </p:grpSpPr>
        <p:sp>
          <p:nvSpPr>
            <p:cNvPr id="6" name="object 10"/>
            <p:cNvSpPr/>
            <p:nvPr/>
          </p:nvSpPr>
          <p:spPr>
            <a:xfrm>
              <a:off x="38100" y="1257300"/>
              <a:ext cx="4686300" cy="279082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7" name="object 11"/>
            <p:cNvSpPr/>
            <p:nvPr/>
          </p:nvSpPr>
          <p:spPr>
            <a:xfrm>
              <a:off x="4343400" y="3781425"/>
              <a:ext cx="4762500" cy="279082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4101848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>
          <a:extLst>
            <a:ext uri="{FF2B5EF4-FFF2-40B4-BE49-F238E27FC236}">
              <a16:creationId xmlns:a16="http://schemas.microsoft.com/office/drawing/2014/main" id="{0AB4DA4A-1945-8855-A404-81DA26754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7">
            <a:extLst>
              <a:ext uri="{FF2B5EF4-FFF2-40B4-BE49-F238E27FC236}">
                <a16:creationId xmlns:a16="http://schemas.microsoft.com/office/drawing/2014/main" id="{71B778BF-1352-EC0B-3146-E06EFE475E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759428"/>
          </a:xfrm>
          <a:prstGeom prst="rect">
            <a:avLst/>
          </a:prstGeom>
          <a:solidFill>
            <a:srgbClr val="92D050"/>
          </a:solidFill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br>
              <a:rPr lang="en-US" sz="4800" dirty="0">
                <a:latin typeface="Impact" panose="020B0806030902050204" pitchFamily="34" charset="0"/>
              </a:rPr>
            </a:br>
            <a:r>
              <a:rPr lang="en-US" sz="4800" dirty="0">
                <a:latin typeface="Impact" panose="020B0806030902050204" pitchFamily="34" charset="0"/>
              </a:rPr>
              <a:t>	</a:t>
            </a:r>
            <a:r>
              <a:rPr lang="en-US" b="1" dirty="0"/>
              <a:t>Increment</a:t>
            </a:r>
          </a:p>
        </p:txBody>
      </p:sp>
      <p:sp>
        <p:nvSpPr>
          <p:cNvPr id="596" name="Google Shape;596;p17">
            <a:extLst>
              <a:ext uri="{FF2B5EF4-FFF2-40B4-BE49-F238E27FC236}">
                <a16:creationId xmlns:a16="http://schemas.microsoft.com/office/drawing/2014/main" id="{399E1C25-FE2B-BF25-F4DA-558F3BDA491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algn="r"/>
            <a:fld id="{00000000-1234-1234-1234-123412341234}" type="slidenum">
              <a:rPr lang="en"/>
              <a:pPr algn="r"/>
              <a:t>21</a:t>
            </a:fld>
            <a:endParaRPr dirty="0"/>
          </a:p>
        </p:txBody>
      </p:sp>
      <p:sp>
        <p:nvSpPr>
          <p:cNvPr id="2" name="Google Shape;595;p17">
            <a:extLst>
              <a:ext uri="{FF2B5EF4-FFF2-40B4-BE49-F238E27FC236}">
                <a16:creationId xmlns:a16="http://schemas.microsoft.com/office/drawing/2014/main" id="{F45A8FAB-CC4E-6FDD-5161-B990EC014F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56520" y="1597936"/>
            <a:ext cx="10877848" cy="4806929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>
              <a:lnSpc>
                <a:spcPct val="200000"/>
              </a:lnSpc>
            </a:pPr>
            <a:r>
              <a:rPr lang="en-US" sz="2400" dirty="0">
                <a:latin typeface="Barlow" panose="020B0604020202020204" charset="0"/>
              </a:rPr>
              <a:t>Concrete steppingstone towards the product goal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Barlow" panose="020B0604020202020204" charset="0"/>
              </a:rPr>
              <a:t>Each increment is additive to all prior increment and thoroughly verified, ensuring that all increments work together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Barlow" panose="020B0604020202020204" charset="0"/>
              </a:rPr>
              <a:t>Usable / workable multiple increments may created within a Sprint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Barlow" panose="020B0604020202020204" charset="0"/>
              </a:rPr>
              <a:t>Work should meets the Definition of Done to be considered as an Increment</a:t>
            </a:r>
          </a:p>
        </p:txBody>
      </p:sp>
    </p:spTree>
    <p:extLst>
      <p:ext uri="{BB962C8B-B14F-4D97-AF65-F5344CB8AC3E}">
        <p14:creationId xmlns:p14="http://schemas.microsoft.com/office/powerpoint/2010/main" val="42123832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>
          <a:extLst>
            <a:ext uri="{FF2B5EF4-FFF2-40B4-BE49-F238E27FC236}">
              <a16:creationId xmlns:a16="http://schemas.microsoft.com/office/drawing/2014/main" id="{B43EF941-F49A-D549-CDBF-B6465BF6C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7">
            <a:extLst>
              <a:ext uri="{FF2B5EF4-FFF2-40B4-BE49-F238E27FC236}">
                <a16:creationId xmlns:a16="http://schemas.microsoft.com/office/drawing/2014/main" id="{3345E85D-EB1B-CBF8-E86D-A9415F3792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759428"/>
          </a:xfrm>
          <a:prstGeom prst="rect">
            <a:avLst/>
          </a:prstGeom>
          <a:solidFill>
            <a:srgbClr val="92D050"/>
          </a:solidFill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br>
              <a:rPr lang="en-US" sz="4800" dirty="0">
                <a:latin typeface="Impact" panose="020B0806030902050204" pitchFamily="34" charset="0"/>
              </a:rPr>
            </a:br>
            <a:r>
              <a:rPr lang="en-US" sz="4800" dirty="0">
                <a:latin typeface="Impact" panose="020B0806030902050204" pitchFamily="34" charset="0"/>
              </a:rPr>
              <a:t>	</a:t>
            </a:r>
            <a:r>
              <a:rPr lang="en-US" b="1" dirty="0"/>
              <a:t>Increment</a:t>
            </a:r>
          </a:p>
        </p:txBody>
      </p:sp>
      <p:sp>
        <p:nvSpPr>
          <p:cNvPr id="595" name="Google Shape;595;p17">
            <a:extLst>
              <a:ext uri="{FF2B5EF4-FFF2-40B4-BE49-F238E27FC236}">
                <a16:creationId xmlns:a16="http://schemas.microsoft.com/office/drawing/2014/main" id="{F954E8C5-ACA8-145F-50B6-56B825A012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56520" y="1501684"/>
            <a:ext cx="11235480" cy="497932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>
              <a:lnSpc>
                <a:spcPct val="200000"/>
              </a:lnSpc>
            </a:pPr>
            <a:r>
              <a:rPr lang="en-US" sz="2400" dirty="0">
                <a:latin typeface="Barlow" panose="020B0604020202020204" charset="0"/>
              </a:rPr>
              <a:t>Commitment : </a:t>
            </a:r>
            <a:r>
              <a:rPr lang="en-US" sz="2400" b="1" dirty="0">
                <a:latin typeface="Barlow" panose="020B0604020202020204" charset="0"/>
              </a:rPr>
              <a:t>Definition of Done (DoD)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Barlow" panose="020B0604020202020204" charset="0"/>
              </a:rPr>
              <a:t>State of the increment when it meets the quality measures required for the product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Barlow" panose="020B0604020202020204" charset="0"/>
              </a:rPr>
              <a:t>When Product backlog item meets </a:t>
            </a:r>
            <a:r>
              <a:rPr lang="en-US" dirty="0">
                <a:latin typeface="Barlow" panose="020B0604020202020204" charset="0"/>
              </a:rPr>
              <a:t>DoD, an Increment is born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Barlow" panose="020B0604020202020204" charset="0"/>
              </a:rPr>
              <a:t>If a Product Backlog item does not meet the DoD, it cannot be released or presented at the sprint review</a:t>
            </a:r>
          </a:p>
        </p:txBody>
      </p:sp>
      <p:sp>
        <p:nvSpPr>
          <p:cNvPr id="596" name="Google Shape;596;p17">
            <a:extLst>
              <a:ext uri="{FF2B5EF4-FFF2-40B4-BE49-F238E27FC236}">
                <a16:creationId xmlns:a16="http://schemas.microsoft.com/office/drawing/2014/main" id="{0040D5B6-C6A1-0BC5-4CEA-B251772A8EA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algn="r"/>
            <a:fld id="{00000000-1234-1234-1234-123412341234}" type="slidenum">
              <a:rPr lang="en"/>
              <a:pPr algn="r"/>
              <a:t>22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65507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1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algn="r"/>
            <a:fld id="{00000000-1234-1234-1234-123412341234}" type="slidenum">
              <a:rPr lang="en"/>
              <a:pPr algn="r"/>
              <a:t>23</a:t>
            </a:fld>
            <a:endParaRPr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5D9FAA4-B5B5-1734-317A-4582615598FD}"/>
              </a:ext>
            </a:extLst>
          </p:cNvPr>
          <p:cNvGrpSpPr/>
          <p:nvPr/>
        </p:nvGrpSpPr>
        <p:grpSpPr>
          <a:xfrm>
            <a:off x="2860529" y="144201"/>
            <a:ext cx="2072640" cy="3569938"/>
            <a:chOff x="1484376" y="2555240"/>
            <a:chExt cx="2072640" cy="3569938"/>
          </a:xfrm>
        </p:grpSpPr>
        <p:sp>
          <p:nvSpPr>
            <p:cNvPr id="5" name="object 3"/>
            <p:cNvSpPr/>
            <p:nvPr/>
          </p:nvSpPr>
          <p:spPr>
            <a:xfrm>
              <a:off x="1484376" y="3504184"/>
              <a:ext cx="2072640" cy="711200"/>
            </a:xfrm>
            <a:custGeom>
              <a:avLst/>
              <a:gdLst/>
              <a:ahLst/>
              <a:cxnLst/>
              <a:rect l="l" t="t" r="r" b="b"/>
              <a:pathLst>
                <a:path w="1554480" h="533400">
                  <a:moveTo>
                    <a:pt x="0" y="0"/>
                  </a:moveTo>
                  <a:lnTo>
                    <a:pt x="1287780" y="0"/>
                  </a:lnTo>
                  <a:lnTo>
                    <a:pt x="1554480" y="266700"/>
                  </a:lnTo>
                  <a:lnTo>
                    <a:pt x="1287780" y="533400"/>
                  </a:lnTo>
                  <a:lnTo>
                    <a:pt x="0" y="533400"/>
                  </a:lnTo>
                  <a:lnTo>
                    <a:pt x="266700" y="266700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E15F17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4"/>
            <p:cNvSpPr txBox="1"/>
            <p:nvPr/>
          </p:nvSpPr>
          <p:spPr>
            <a:xfrm>
              <a:off x="1923965" y="3699934"/>
              <a:ext cx="1209887" cy="263320"/>
            </a:xfrm>
            <a:prstGeom prst="rect">
              <a:avLst/>
            </a:prstGeom>
          </p:spPr>
          <p:txBody>
            <a:bodyPr vert="horz" wrap="square" lIns="0" tIns="16933" rIns="0" bIns="0" rtlCol="0">
              <a:spAutoFit/>
            </a:bodyPr>
            <a:lstStyle/>
            <a:p>
              <a:pPr marL="16933">
                <a:spcBef>
                  <a:spcPts val="133"/>
                </a:spcBef>
              </a:pPr>
              <a:r>
                <a:rPr sz="1600" b="1" dirty="0">
                  <a:latin typeface="Arial"/>
                  <a:cs typeface="Arial"/>
                </a:rPr>
                <a:t>Daily</a:t>
              </a:r>
              <a:r>
                <a:rPr sz="1600" b="1" spc="-87" dirty="0">
                  <a:latin typeface="Arial"/>
                  <a:cs typeface="Arial"/>
                </a:rPr>
                <a:t> </a:t>
              </a:r>
              <a:r>
                <a:rPr sz="1600" b="1" spc="-7" dirty="0">
                  <a:latin typeface="Arial"/>
                  <a:cs typeface="Arial"/>
                </a:rPr>
                <a:t>Scrum</a:t>
              </a:r>
              <a:endParaRPr sz="1600">
                <a:latin typeface="Arial"/>
                <a:cs typeface="Arial"/>
              </a:endParaRPr>
            </a:p>
          </p:txBody>
        </p:sp>
        <p:sp>
          <p:nvSpPr>
            <p:cNvPr id="11" name="object 9"/>
            <p:cNvSpPr/>
            <p:nvPr/>
          </p:nvSpPr>
          <p:spPr>
            <a:xfrm>
              <a:off x="1484376" y="2555240"/>
              <a:ext cx="2042499" cy="711200"/>
            </a:xfrm>
            <a:custGeom>
              <a:avLst/>
              <a:gdLst/>
              <a:ahLst/>
              <a:cxnLst/>
              <a:rect l="l" t="t" r="r" b="b"/>
              <a:pathLst>
                <a:path w="1316989" h="533400">
                  <a:moveTo>
                    <a:pt x="0" y="0"/>
                  </a:moveTo>
                  <a:lnTo>
                    <a:pt x="1050036" y="0"/>
                  </a:lnTo>
                  <a:lnTo>
                    <a:pt x="1316736" y="266700"/>
                  </a:lnTo>
                  <a:lnTo>
                    <a:pt x="1050036" y="533400"/>
                  </a:lnTo>
                  <a:lnTo>
                    <a:pt x="0" y="533400"/>
                  </a:lnTo>
                  <a:lnTo>
                    <a:pt x="266700" y="266700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E15F17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2" name="object 10"/>
            <p:cNvSpPr txBox="1"/>
            <p:nvPr/>
          </p:nvSpPr>
          <p:spPr>
            <a:xfrm>
              <a:off x="1996863" y="2647357"/>
              <a:ext cx="1107356" cy="487313"/>
            </a:xfrm>
            <a:prstGeom prst="rect">
              <a:avLst/>
            </a:prstGeom>
          </p:spPr>
          <p:txBody>
            <a:bodyPr vert="horz" wrap="square" lIns="0" tIns="50800" rIns="0" bIns="0" rtlCol="0">
              <a:spAutoFit/>
            </a:bodyPr>
            <a:lstStyle/>
            <a:p>
              <a:pPr marL="16933" marR="6773" indent="135463">
                <a:lnSpc>
                  <a:spcPts val="1667"/>
                </a:lnSpc>
                <a:spcBef>
                  <a:spcPts val="400"/>
                </a:spcBef>
              </a:pPr>
              <a:r>
                <a:rPr sz="1600" b="1" dirty="0">
                  <a:latin typeface="Arial"/>
                  <a:cs typeface="Arial"/>
                </a:rPr>
                <a:t>Sprint  Pl</a:t>
              </a:r>
              <a:r>
                <a:rPr sz="1600" b="1" spc="7" dirty="0">
                  <a:latin typeface="Arial"/>
                  <a:cs typeface="Arial"/>
                </a:rPr>
                <a:t>a</a:t>
              </a:r>
              <a:r>
                <a:rPr sz="1600" b="1" dirty="0">
                  <a:latin typeface="Arial"/>
                  <a:cs typeface="Arial"/>
                </a:rPr>
                <a:t>nning</a:t>
              </a:r>
              <a:endParaRPr sz="1600" dirty="0">
                <a:latin typeface="Arial"/>
                <a:cs typeface="Arial"/>
              </a:endParaRPr>
            </a:p>
          </p:txBody>
        </p:sp>
        <p:sp>
          <p:nvSpPr>
            <p:cNvPr id="13" name="object 11"/>
            <p:cNvSpPr/>
            <p:nvPr/>
          </p:nvSpPr>
          <p:spPr>
            <a:xfrm>
              <a:off x="1484376" y="4438998"/>
              <a:ext cx="2072640" cy="713740"/>
            </a:xfrm>
            <a:custGeom>
              <a:avLst/>
              <a:gdLst/>
              <a:ahLst/>
              <a:cxnLst/>
              <a:rect l="l" t="t" r="r" b="b"/>
              <a:pathLst>
                <a:path w="1333500" h="535304">
                  <a:moveTo>
                    <a:pt x="0" y="0"/>
                  </a:moveTo>
                  <a:lnTo>
                    <a:pt x="1066038" y="0"/>
                  </a:lnTo>
                  <a:lnTo>
                    <a:pt x="1333500" y="267462"/>
                  </a:lnTo>
                  <a:lnTo>
                    <a:pt x="1066038" y="534924"/>
                  </a:lnTo>
                  <a:lnTo>
                    <a:pt x="0" y="534924"/>
                  </a:lnTo>
                  <a:lnTo>
                    <a:pt x="267462" y="267462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E15F17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4" name="object 12"/>
            <p:cNvSpPr txBox="1"/>
            <p:nvPr/>
          </p:nvSpPr>
          <p:spPr>
            <a:xfrm>
              <a:off x="2210139" y="4611113"/>
              <a:ext cx="732367" cy="487313"/>
            </a:xfrm>
            <a:prstGeom prst="rect">
              <a:avLst/>
            </a:prstGeom>
          </p:spPr>
          <p:txBody>
            <a:bodyPr vert="horz" wrap="square" lIns="0" tIns="50800" rIns="0" bIns="0" rtlCol="0">
              <a:spAutoFit/>
            </a:bodyPr>
            <a:lstStyle/>
            <a:p>
              <a:pPr marL="16933" marR="6773" indent="58419">
                <a:lnSpc>
                  <a:spcPts val="1667"/>
                </a:lnSpc>
                <a:spcBef>
                  <a:spcPts val="400"/>
                </a:spcBef>
              </a:pPr>
              <a:r>
                <a:rPr sz="1600" b="1" dirty="0">
                  <a:latin typeface="Arial"/>
                  <a:cs typeface="Arial"/>
                </a:rPr>
                <a:t>Sprint  </a:t>
              </a:r>
              <a:r>
                <a:rPr sz="1600" b="1" spc="-7" dirty="0">
                  <a:latin typeface="Arial"/>
                  <a:cs typeface="Arial"/>
                </a:rPr>
                <a:t>Re</a:t>
              </a:r>
              <a:r>
                <a:rPr sz="1600" b="1" spc="-33" dirty="0">
                  <a:latin typeface="Arial"/>
                  <a:cs typeface="Arial"/>
                </a:rPr>
                <a:t>v</a:t>
              </a:r>
              <a:r>
                <a:rPr sz="1600" b="1" dirty="0">
                  <a:latin typeface="Arial"/>
                  <a:cs typeface="Arial"/>
                </a:rPr>
                <a:t>i</a:t>
              </a:r>
              <a:r>
                <a:rPr sz="1600" b="1" spc="7" dirty="0">
                  <a:latin typeface="Arial"/>
                  <a:cs typeface="Arial"/>
                </a:rPr>
                <a:t>e</a:t>
              </a:r>
              <a:r>
                <a:rPr sz="1600" b="1" dirty="0">
                  <a:latin typeface="Arial"/>
                  <a:cs typeface="Arial"/>
                </a:rPr>
                <a:t>w</a:t>
              </a:r>
              <a:endParaRPr sz="1600" dirty="0">
                <a:latin typeface="Arial"/>
                <a:cs typeface="Arial"/>
              </a:endParaRPr>
            </a:p>
          </p:txBody>
        </p:sp>
        <p:sp>
          <p:nvSpPr>
            <p:cNvPr id="15" name="object 13"/>
            <p:cNvSpPr/>
            <p:nvPr/>
          </p:nvSpPr>
          <p:spPr>
            <a:xfrm>
              <a:off x="1484376" y="5413978"/>
              <a:ext cx="2072640" cy="711200"/>
            </a:xfrm>
            <a:custGeom>
              <a:avLst/>
              <a:gdLst/>
              <a:ahLst/>
              <a:cxnLst/>
              <a:rect l="l" t="t" r="r" b="b"/>
              <a:pathLst>
                <a:path w="1658620" h="533400">
                  <a:moveTo>
                    <a:pt x="0" y="0"/>
                  </a:moveTo>
                  <a:lnTo>
                    <a:pt x="1391412" y="0"/>
                  </a:lnTo>
                  <a:lnTo>
                    <a:pt x="1658112" y="266699"/>
                  </a:lnTo>
                  <a:lnTo>
                    <a:pt x="1391412" y="533399"/>
                  </a:lnTo>
                  <a:lnTo>
                    <a:pt x="0" y="533399"/>
                  </a:lnTo>
                  <a:lnTo>
                    <a:pt x="266700" y="266699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E15F17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" name="object 14"/>
            <p:cNvSpPr txBox="1"/>
            <p:nvPr/>
          </p:nvSpPr>
          <p:spPr>
            <a:xfrm>
              <a:off x="1996864" y="5547869"/>
              <a:ext cx="1375833" cy="487313"/>
            </a:xfrm>
            <a:prstGeom prst="rect">
              <a:avLst/>
            </a:prstGeom>
          </p:spPr>
          <p:txBody>
            <a:bodyPr vert="horz" wrap="square" lIns="0" tIns="50800" rIns="0" bIns="0" rtlCol="0">
              <a:spAutoFit/>
            </a:bodyPr>
            <a:lstStyle/>
            <a:p>
              <a:pPr marL="16933" marR="6773" indent="377604">
                <a:lnSpc>
                  <a:spcPts val="1667"/>
                </a:lnSpc>
                <a:spcBef>
                  <a:spcPts val="400"/>
                </a:spcBef>
              </a:pPr>
              <a:r>
                <a:rPr sz="1600" b="1" dirty="0">
                  <a:latin typeface="Arial"/>
                  <a:cs typeface="Arial"/>
                </a:rPr>
                <a:t>Sprint  </a:t>
              </a:r>
              <a:r>
                <a:rPr sz="1600" b="1" spc="-7" dirty="0">
                  <a:latin typeface="Arial"/>
                  <a:cs typeface="Arial"/>
                </a:rPr>
                <a:t>Retros</a:t>
              </a:r>
              <a:r>
                <a:rPr sz="1600" b="1" dirty="0">
                  <a:latin typeface="Arial"/>
                  <a:cs typeface="Arial"/>
                </a:rPr>
                <a:t>pe</a:t>
              </a:r>
              <a:r>
                <a:rPr sz="1600" b="1" spc="-7" dirty="0">
                  <a:latin typeface="Arial"/>
                  <a:cs typeface="Arial"/>
                </a:rPr>
                <a:t>c</a:t>
              </a:r>
              <a:r>
                <a:rPr sz="1600" b="1" dirty="0">
                  <a:latin typeface="Arial"/>
                  <a:cs typeface="Arial"/>
                </a:rPr>
                <a:t>ti</a:t>
              </a:r>
              <a:r>
                <a:rPr sz="1600" b="1" spc="-33" dirty="0">
                  <a:latin typeface="Arial"/>
                  <a:cs typeface="Arial"/>
                </a:rPr>
                <a:t>v</a:t>
              </a:r>
              <a:r>
                <a:rPr sz="1600" b="1" spc="-7" dirty="0">
                  <a:latin typeface="Arial"/>
                  <a:cs typeface="Arial"/>
                </a:rPr>
                <a:t>e</a:t>
              </a:r>
              <a:endParaRPr sz="1600">
                <a:latin typeface="Arial"/>
                <a:cs typeface="Arial"/>
              </a:endParaRPr>
            </a:p>
          </p:txBody>
        </p:sp>
      </p:grpSp>
      <p:sp>
        <p:nvSpPr>
          <p:cNvPr id="17" name="object 15"/>
          <p:cNvSpPr txBox="1"/>
          <p:nvPr/>
        </p:nvSpPr>
        <p:spPr>
          <a:xfrm>
            <a:off x="5166481" y="1199435"/>
            <a:ext cx="245533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107" dirty="0">
                <a:latin typeface="Trebuchet MS"/>
                <a:cs typeface="Trebuchet MS"/>
              </a:rPr>
              <a:t>How </a:t>
            </a:r>
            <a:r>
              <a:rPr sz="2400" spc="-73" dirty="0">
                <a:latin typeface="Trebuchet MS"/>
                <a:cs typeface="Trebuchet MS"/>
              </a:rPr>
              <a:t>are </a:t>
            </a:r>
            <a:r>
              <a:rPr sz="2400" spc="-140" dirty="0">
                <a:latin typeface="Trebuchet MS"/>
                <a:cs typeface="Trebuchet MS"/>
              </a:rPr>
              <a:t>we</a:t>
            </a:r>
            <a:r>
              <a:rPr sz="2400" spc="-272" dirty="0">
                <a:latin typeface="Trebuchet MS"/>
                <a:cs typeface="Trebuchet MS"/>
              </a:rPr>
              <a:t> </a:t>
            </a:r>
            <a:r>
              <a:rPr sz="2400" spc="7" dirty="0">
                <a:latin typeface="Trebuchet MS"/>
                <a:cs typeface="Trebuchet MS"/>
              </a:rPr>
              <a:t>doing?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20" name="object 18"/>
          <p:cNvSpPr txBox="1"/>
          <p:nvPr/>
        </p:nvSpPr>
        <p:spPr>
          <a:xfrm>
            <a:off x="5170546" y="349821"/>
            <a:ext cx="221572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107" dirty="0">
                <a:latin typeface="Trebuchet MS"/>
                <a:cs typeface="Trebuchet MS"/>
              </a:rPr>
              <a:t>How </a:t>
            </a:r>
            <a:r>
              <a:rPr sz="2400" spc="-47" dirty="0">
                <a:latin typeface="Trebuchet MS"/>
                <a:cs typeface="Trebuchet MS"/>
              </a:rPr>
              <a:t>do </a:t>
            </a:r>
            <a:r>
              <a:rPr sz="2400" spc="-147" dirty="0">
                <a:latin typeface="Trebuchet MS"/>
                <a:cs typeface="Trebuchet MS"/>
              </a:rPr>
              <a:t>we </a:t>
            </a:r>
            <a:r>
              <a:rPr sz="2400" spc="-47" dirty="0">
                <a:latin typeface="Trebuchet MS"/>
                <a:cs typeface="Trebuchet MS"/>
              </a:rPr>
              <a:t>do</a:t>
            </a:r>
            <a:r>
              <a:rPr sz="2400" spc="-240" dirty="0">
                <a:latin typeface="Trebuchet MS"/>
                <a:cs typeface="Trebuchet MS"/>
              </a:rPr>
              <a:t> </a:t>
            </a:r>
            <a:r>
              <a:rPr sz="2400" spc="-13" dirty="0">
                <a:latin typeface="Trebuchet MS"/>
                <a:cs typeface="Trebuchet MS"/>
              </a:rPr>
              <a:t>it?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21" name="object 19"/>
          <p:cNvSpPr txBox="1"/>
          <p:nvPr/>
        </p:nvSpPr>
        <p:spPr>
          <a:xfrm>
            <a:off x="5166481" y="2195451"/>
            <a:ext cx="229108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107" dirty="0">
                <a:latin typeface="Trebuchet MS"/>
                <a:cs typeface="Trebuchet MS"/>
              </a:rPr>
              <a:t>How </a:t>
            </a:r>
            <a:r>
              <a:rPr sz="2400" spc="-80" dirty="0">
                <a:latin typeface="Trebuchet MS"/>
                <a:cs typeface="Trebuchet MS"/>
              </a:rPr>
              <a:t>did </a:t>
            </a:r>
            <a:r>
              <a:rPr sz="2400" spc="-140" dirty="0">
                <a:latin typeface="Trebuchet MS"/>
                <a:cs typeface="Trebuchet MS"/>
              </a:rPr>
              <a:t>we </a:t>
            </a:r>
            <a:r>
              <a:rPr sz="2400" spc="-47" dirty="0">
                <a:latin typeface="Trebuchet MS"/>
                <a:cs typeface="Trebuchet MS"/>
              </a:rPr>
              <a:t>do</a:t>
            </a:r>
            <a:r>
              <a:rPr sz="2400" spc="-233" dirty="0">
                <a:latin typeface="Trebuchet MS"/>
                <a:cs typeface="Trebuchet MS"/>
              </a:rPr>
              <a:t> </a:t>
            </a:r>
            <a:r>
              <a:rPr sz="2400" spc="-13" dirty="0">
                <a:latin typeface="Trebuchet MS"/>
                <a:cs typeface="Trebuchet MS"/>
              </a:rPr>
              <a:t>it?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22" name="object 20"/>
          <p:cNvSpPr txBox="1"/>
          <p:nvPr/>
        </p:nvSpPr>
        <p:spPr>
          <a:xfrm>
            <a:off x="5166481" y="3191467"/>
            <a:ext cx="281262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107" dirty="0">
                <a:latin typeface="Trebuchet MS"/>
                <a:cs typeface="Trebuchet MS"/>
              </a:rPr>
              <a:t>How </a:t>
            </a:r>
            <a:r>
              <a:rPr sz="2400" spc="-47" dirty="0">
                <a:latin typeface="Trebuchet MS"/>
                <a:cs typeface="Trebuchet MS"/>
              </a:rPr>
              <a:t>do </a:t>
            </a:r>
            <a:r>
              <a:rPr sz="2400" spc="-147" dirty="0">
                <a:latin typeface="Trebuchet MS"/>
                <a:cs typeface="Trebuchet MS"/>
              </a:rPr>
              <a:t>we </a:t>
            </a:r>
            <a:r>
              <a:rPr sz="2400" spc="-47" dirty="0">
                <a:latin typeface="Trebuchet MS"/>
                <a:cs typeface="Trebuchet MS"/>
              </a:rPr>
              <a:t>do</a:t>
            </a:r>
            <a:r>
              <a:rPr sz="2400" spc="-247" dirty="0">
                <a:latin typeface="Trebuchet MS"/>
                <a:cs typeface="Trebuchet MS"/>
              </a:rPr>
              <a:t> </a:t>
            </a:r>
            <a:r>
              <a:rPr sz="2400" spc="-73" dirty="0">
                <a:latin typeface="Trebuchet MS"/>
                <a:cs typeface="Trebuchet MS"/>
              </a:rPr>
              <a:t>better?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23" name="object 4"/>
          <p:cNvGrpSpPr/>
          <p:nvPr/>
        </p:nvGrpSpPr>
        <p:grpSpPr>
          <a:xfrm>
            <a:off x="8445733" y="263979"/>
            <a:ext cx="3390900" cy="3411220"/>
            <a:chOff x="5401055" y="1438924"/>
            <a:chExt cx="2543175" cy="2558415"/>
          </a:xfrm>
        </p:grpSpPr>
        <p:sp>
          <p:nvSpPr>
            <p:cNvPr id="24" name="object 5"/>
            <p:cNvSpPr/>
            <p:nvPr/>
          </p:nvSpPr>
          <p:spPr>
            <a:xfrm>
              <a:off x="5401055" y="1438924"/>
              <a:ext cx="2538418" cy="255794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5" name="object 6"/>
            <p:cNvSpPr/>
            <p:nvPr/>
          </p:nvSpPr>
          <p:spPr>
            <a:xfrm>
              <a:off x="5565457" y="3016285"/>
              <a:ext cx="2000250" cy="772160"/>
            </a:xfrm>
            <a:custGeom>
              <a:avLst/>
              <a:gdLst/>
              <a:ahLst/>
              <a:cxnLst/>
              <a:rect l="l" t="t" r="r" b="b"/>
              <a:pathLst>
                <a:path w="2000250" h="772160">
                  <a:moveTo>
                    <a:pt x="1814525" y="0"/>
                  </a:moveTo>
                  <a:lnTo>
                    <a:pt x="1254908" y="114832"/>
                  </a:lnTo>
                  <a:lnTo>
                    <a:pt x="761690" y="231175"/>
                  </a:lnTo>
                  <a:lnTo>
                    <a:pt x="472102" y="225123"/>
                  </a:lnTo>
                  <a:lnTo>
                    <a:pt x="0" y="772083"/>
                  </a:lnTo>
                  <a:lnTo>
                    <a:pt x="616896" y="699554"/>
                  </a:lnTo>
                  <a:lnTo>
                    <a:pt x="906496" y="577172"/>
                  </a:lnTo>
                  <a:lnTo>
                    <a:pt x="1265421" y="627026"/>
                  </a:lnTo>
                  <a:lnTo>
                    <a:pt x="1444909" y="531847"/>
                  </a:lnTo>
                  <a:lnTo>
                    <a:pt x="1511283" y="380750"/>
                  </a:lnTo>
                  <a:lnTo>
                    <a:pt x="1283535" y="353558"/>
                  </a:lnTo>
                  <a:lnTo>
                    <a:pt x="1006044" y="391332"/>
                  </a:lnTo>
                  <a:lnTo>
                    <a:pt x="1265421" y="252327"/>
                  </a:lnTo>
                  <a:lnTo>
                    <a:pt x="1698371" y="114832"/>
                  </a:lnTo>
                  <a:lnTo>
                    <a:pt x="1960826" y="191891"/>
                  </a:lnTo>
                  <a:lnTo>
                    <a:pt x="1999967" y="25694"/>
                  </a:lnTo>
                  <a:lnTo>
                    <a:pt x="1814525" y="0"/>
                  </a:lnTo>
                  <a:close/>
                </a:path>
              </a:pathLst>
            </a:custGeom>
            <a:solidFill>
              <a:srgbClr val="53422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6" name="object 7"/>
            <p:cNvSpPr/>
            <p:nvPr/>
          </p:nvSpPr>
          <p:spPr>
            <a:xfrm>
              <a:off x="5401055" y="1564288"/>
              <a:ext cx="2542978" cy="243258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F27CD7D7-7799-F728-28DF-F9A7763804A6}"/>
              </a:ext>
            </a:extLst>
          </p:cNvPr>
          <p:cNvGrpSpPr/>
          <p:nvPr/>
        </p:nvGrpSpPr>
        <p:grpSpPr>
          <a:xfrm>
            <a:off x="158527" y="4446986"/>
            <a:ext cx="3141591" cy="1707817"/>
            <a:chOff x="5824329" y="1021935"/>
            <a:chExt cx="3141591" cy="1707817"/>
          </a:xfrm>
        </p:grpSpPr>
        <p:sp>
          <p:nvSpPr>
            <p:cNvPr id="3" name="object 7">
              <a:extLst>
                <a:ext uri="{FF2B5EF4-FFF2-40B4-BE49-F238E27FC236}">
                  <a16:creationId xmlns:a16="http://schemas.microsoft.com/office/drawing/2014/main" id="{52B9D54E-A632-6350-D3DE-BC10D7205B11}"/>
                </a:ext>
              </a:extLst>
            </p:cNvPr>
            <p:cNvSpPr/>
            <p:nvPr/>
          </p:nvSpPr>
          <p:spPr>
            <a:xfrm>
              <a:off x="5824329" y="1032486"/>
              <a:ext cx="3141591" cy="1696230"/>
            </a:xfrm>
            <a:custGeom>
              <a:avLst/>
              <a:gdLst/>
              <a:ahLst/>
              <a:cxnLst/>
              <a:rect l="l" t="t" r="r" b="b"/>
              <a:pathLst>
                <a:path w="3715385" h="1840229">
                  <a:moveTo>
                    <a:pt x="0" y="274192"/>
                  </a:moveTo>
                  <a:lnTo>
                    <a:pt x="4418" y="224919"/>
                  </a:lnTo>
                  <a:lnTo>
                    <a:pt x="17157" y="178537"/>
                  </a:lnTo>
                  <a:lnTo>
                    <a:pt x="37442" y="135824"/>
                  </a:lnTo>
                  <a:lnTo>
                    <a:pt x="64499" y="97553"/>
                  </a:lnTo>
                  <a:lnTo>
                    <a:pt x="97553" y="64502"/>
                  </a:lnTo>
                  <a:lnTo>
                    <a:pt x="135830" y="37446"/>
                  </a:lnTo>
                  <a:lnTo>
                    <a:pt x="178556" y="17159"/>
                  </a:lnTo>
                  <a:lnTo>
                    <a:pt x="224955" y="4419"/>
                  </a:lnTo>
                  <a:lnTo>
                    <a:pt x="274255" y="0"/>
                  </a:lnTo>
                  <a:lnTo>
                    <a:pt x="3440492" y="0"/>
                  </a:lnTo>
                  <a:lnTo>
                    <a:pt x="3489803" y="4419"/>
                  </a:lnTo>
                  <a:lnTo>
                    <a:pt x="3536214" y="17159"/>
                  </a:lnTo>
                  <a:lnTo>
                    <a:pt x="3578950" y="37446"/>
                  </a:lnTo>
                  <a:lnTo>
                    <a:pt x="3617236" y="64502"/>
                  </a:lnTo>
                  <a:lnTo>
                    <a:pt x="3650298" y="97553"/>
                  </a:lnTo>
                  <a:lnTo>
                    <a:pt x="3677361" y="135824"/>
                  </a:lnTo>
                  <a:lnTo>
                    <a:pt x="3697651" y="178537"/>
                  </a:lnTo>
                  <a:lnTo>
                    <a:pt x="3710392" y="224919"/>
                  </a:lnTo>
                  <a:lnTo>
                    <a:pt x="3714812" y="274192"/>
                  </a:lnTo>
                  <a:lnTo>
                    <a:pt x="3714812" y="1565910"/>
                  </a:lnTo>
                  <a:lnTo>
                    <a:pt x="3710392" y="1615221"/>
                  </a:lnTo>
                  <a:lnTo>
                    <a:pt x="3697651" y="1661632"/>
                  </a:lnTo>
                  <a:lnTo>
                    <a:pt x="3677361" y="1704368"/>
                  </a:lnTo>
                  <a:lnTo>
                    <a:pt x="3650298" y="1742654"/>
                  </a:lnTo>
                  <a:lnTo>
                    <a:pt x="3617236" y="1775716"/>
                  </a:lnTo>
                  <a:lnTo>
                    <a:pt x="3578950" y="1802779"/>
                  </a:lnTo>
                  <a:lnTo>
                    <a:pt x="3536214" y="1823068"/>
                  </a:lnTo>
                  <a:lnTo>
                    <a:pt x="3489803" y="1835810"/>
                  </a:lnTo>
                  <a:lnTo>
                    <a:pt x="3440492" y="1840229"/>
                  </a:lnTo>
                  <a:lnTo>
                    <a:pt x="274255" y="1840229"/>
                  </a:lnTo>
                  <a:lnTo>
                    <a:pt x="224955" y="1835810"/>
                  </a:lnTo>
                  <a:lnTo>
                    <a:pt x="178556" y="1823068"/>
                  </a:lnTo>
                  <a:lnTo>
                    <a:pt x="135830" y="1802779"/>
                  </a:lnTo>
                  <a:lnTo>
                    <a:pt x="97553" y="1775716"/>
                  </a:lnTo>
                  <a:lnTo>
                    <a:pt x="64499" y="1742654"/>
                  </a:lnTo>
                  <a:lnTo>
                    <a:pt x="37442" y="1704368"/>
                  </a:lnTo>
                  <a:lnTo>
                    <a:pt x="17157" y="1661632"/>
                  </a:lnTo>
                  <a:lnTo>
                    <a:pt x="4418" y="1615221"/>
                  </a:lnTo>
                  <a:lnTo>
                    <a:pt x="0" y="1565910"/>
                  </a:lnTo>
                  <a:lnTo>
                    <a:pt x="0" y="274192"/>
                  </a:lnTo>
                  <a:close/>
                </a:path>
              </a:pathLst>
            </a:custGeom>
            <a:solidFill>
              <a:srgbClr val="00B0F0"/>
            </a:solidFill>
            <a:ln w="25400">
              <a:solidFill>
                <a:srgbClr val="003B83"/>
              </a:solidFill>
            </a:ln>
          </p:spPr>
          <p:txBody>
            <a:bodyPr wrap="square" lIns="0" tIns="0" rIns="0" bIns="0" rtlCol="0"/>
            <a:lstStyle/>
            <a:p>
              <a:endParaRPr sz="1100" dirty="0"/>
            </a:p>
          </p:txBody>
        </p:sp>
        <p:sp>
          <p:nvSpPr>
            <p:cNvPr id="4" name="object 16">
              <a:extLst>
                <a:ext uri="{FF2B5EF4-FFF2-40B4-BE49-F238E27FC236}">
                  <a16:creationId xmlns:a16="http://schemas.microsoft.com/office/drawing/2014/main" id="{C6545574-0E55-7EB4-C00A-EDA652F6CB97}"/>
                </a:ext>
              </a:extLst>
            </p:cNvPr>
            <p:cNvSpPr txBox="1"/>
            <p:nvPr/>
          </p:nvSpPr>
          <p:spPr>
            <a:xfrm>
              <a:off x="6000386" y="1477037"/>
              <a:ext cx="2887306" cy="125271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53670" indent="-141605">
                <a:lnSpc>
                  <a:spcPct val="150000"/>
                </a:lnSpc>
                <a:buSzPct val="122000"/>
                <a:buChar char="•"/>
                <a:tabLst>
                  <a:tab pos="154305" algn="l"/>
                </a:tabLst>
              </a:pPr>
              <a:r>
                <a:rPr sz="1400" spc="5" dirty="0">
                  <a:solidFill>
                    <a:srgbClr val="FFFFFF"/>
                  </a:solidFill>
                  <a:latin typeface="Arial"/>
                  <a:cs typeface="Arial"/>
                </a:rPr>
                <a:t>Sprint</a:t>
              </a:r>
              <a:r>
                <a:rPr sz="1400" spc="-15" dirty="0">
                  <a:solidFill>
                    <a:srgbClr val="FFFFFF"/>
                  </a:solidFill>
                  <a:latin typeface="Arial"/>
                  <a:cs typeface="Arial"/>
                </a:rPr>
                <a:t> </a:t>
              </a:r>
              <a:r>
                <a:rPr sz="1400" spc="5" dirty="0">
                  <a:solidFill>
                    <a:srgbClr val="FFFFFF"/>
                  </a:solidFill>
                  <a:latin typeface="Arial"/>
                  <a:cs typeface="Arial"/>
                </a:rPr>
                <a:t>planning</a:t>
              </a:r>
              <a:endParaRPr sz="1400" dirty="0">
                <a:latin typeface="Arial"/>
                <a:cs typeface="Arial"/>
              </a:endParaRPr>
            </a:p>
            <a:p>
              <a:pPr marL="153035" indent="-140970">
                <a:lnSpc>
                  <a:spcPct val="150000"/>
                </a:lnSpc>
                <a:buSzPct val="122000"/>
                <a:buChar char="•"/>
                <a:tabLst>
                  <a:tab pos="153670" algn="l"/>
                </a:tabLst>
              </a:pPr>
              <a:r>
                <a:rPr sz="1400" spc="10" dirty="0">
                  <a:solidFill>
                    <a:srgbClr val="FFFFFF"/>
                  </a:solidFill>
                  <a:latin typeface="Arial"/>
                  <a:cs typeface="Arial"/>
                </a:rPr>
                <a:t>Daily</a:t>
              </a:r>
              <a:r>
                <a:rPr sz="1400" spc="-5" dirty="0">
                  <a:solidFill>
                    <a:srgbClr val="FFFFFF"/>
                  </a:solidFill>
                  <a:latin typeface="Arial"/>
                  <a:cs typeface="Arial"/>
                </a:rPr>
                <a:t> </a:t>
              </a:r>
              <a:r>
                <a:rPr sz="1400" spc="10" dirty="0">
                  <a:solidFill>
                    <a:srgbClr val="FFFFFF"/>
                  </a:solidFill>
                  <a:latin typeface="Arial"/>
                  <a:cs typeface="Arial"/>
                </a:rPr>
                <a:t>scrum</a:t>
              </a:r>
              <a:endParaRPr sz="1400" dirty="0">
                <a:latin typeface="Arial"/>
                <a:cs typeface="Arial"/>
              </a:endParaRPr>
            </a:p>
            <a:p>
              <a:pPr marL="153035" indent="-140970">
                <a:lnSpc>
                  <a:spcPct val="150000"/>
                </a:lnSpc>
                <a:buSzPct val="122000"/>
                <a:buChar char="•"/>
                <a:tabLst>
                  <a:tab pos="153670" algn="l"/>
                </a:tabLst>
              </a:pPr>
              <a:r>
                <a:rPr sz="1400" spc="5" dirty="0">
                  <a:solidFill>
                    <a:srgbClr val="FFFFFF"/>
                  </a:solidFill>
                  <a:latin typeface="Arial"/>
                  <a:cs typeface="Arial"/>
                </a:rPr>
                <a:t>Sprint</a:t>
              </a:r>
              <a:r>
                <a:rPr sz="1400" spc="-10" dirty="0">
                  <a:solidFill>
                    <a:srgbClr val="FFFFFF"/>
                  </a:solidFill>
                  <a:latin typeface="Arial"/>
                  <a:cs typeface="Arial"/>
                </a:rPr>
                <a:t> </a:t>
              </a:r>
              <a:r>
                <a:rPr sz="1400" spc="5" dirty="0">
                  <a:solidFill>
                    <a:srgbClr val="FFFFFF"/>
                  </a:solidFill>
                  <a:latin typeface="Arial"/>
                  <a:cs typeface="Arial"/>
                </a:rPr>
                <a:t>review</a:t>
              </a:r>
              <a:endParaRPr sz="1400" dirty="0">
                <a:latin typeface="Arial"/>
                <a:cs typeface="Arial"/>
              </a:endParaRPr>
            </a:p>
            <a:p>
              <a:pPr marL="153035" indent="-140970">
                <a:lnSpc>
                  <a:spcPct val="150000"/>
                </a:lnSpc>
                <a:buSzPct val="122000"/>
                <a:buChar char="•"/>
                <a:tabLst>
                  <a:tab pos="153670" algn="l"/>
                </a:tabLst>
              </a:pPr>
              <a:r>
                <a:rPr sz="1400" spc="5" dirty="0">
                  <a:solidFill>
                    <a:srgbClr val="FFFFFF"/>
                  </a:solidFill>
                  <a:latin typeface="Arial"/>
                  <a:cs typeface="Arial"/>
                </a:rPr>
                <a:t>Sprint</a:t>
              </a:r>
              <a:r>
                <a:rPr sz="1400" spc="-40" dirty="0">
                  <a:solidFill>
                    <a:srgbClr val="FFFFFF"/>
                  </a:solidFill>
                  <a:latin typeface="Arial"/>
                  <a:cs typeface="Arial"/>
                </a:rPr>
                <a:t> </a:t>
              </a:r>
              <a:r>
                <a:rPr sz="1400" spc="5" dirty="0">
                  <a:solidFill>
                    <a:srgbClr val="FFFFFF"/>
                  </a:solidFill>
                  <a:latin typeface="Arial"/>
                  <a:cs typeface="Arial"/>
                </a:rPr>
                <a:t>retrospective</a:t>
              </a:r>
              <a:endParaRPr sz="1400" dirty="0">
                <a:latin typeface="Arial"/>
                <a:cs typeface="Arial"/>
              </a:endParaRPr>
            </a:p>
          </p:txBody>
        </p:sp>
        <p:sp>
          <p:nvSpPr>
            <p:cNvPr id="7" name="object 17">
              <a:extLst>
                <a:ext uri="{FF2B5EF4-FFF2-40B4-BE49-F238E27FC236}">
                  <a16:creationId xmlns:a16="http://schemas.microsoft.com/office/drawing/2014/main" id="{40B59CAB-BFE1-456D-37AB-E2CEF6F3955D}"/>
                </a:ext>
              </a:extLst>
            </p:cNvPr>
            <p:cNvSpPr/>
            <p:nvPr/>
          </p:nvSpPr>
          <p:spPr>
            <a:xfrm>
              <a:off x="5831256" y="1021935"/>
              <a:ext cx="2491740" cy="537210"/>
            </a:xfrm>
            <a:custGeom>
              <a:avLst/>
              <a:gdLst/>
              <a:ahLst/>
              <a:cxnLst/>
              <a:rect l="l" t="t" r="r" b="b"/>
              <a:pathLst>
                <a:path w="2491740" h="537210">
                  <a:moveTo>
                    <a:pt x="2491740" y="0"/>
                  </a:moveTo>
                  <a:lnTo>
                    <a:pt x="2148840" y="0"/>
                  </a:lnTo>
                  <a:lnTo>
                    <a:pt x="1931670" y="0"/>
                  </a:lnTo>
                  <a:lnTo>
                    <a:pt x="445770" y="0"/>
                  </a:lnTo>
                  <a:lnTo>
                    <a:pt x="434340" y="0"/>
                  </a:lnTo>
                  <a:lnTo>
                    <a:pt x="283337" y="1270"/>
                  </a:lnTo>
                  <a:lnTo>
                    <a:pt x="223786" y="7899"/>
                  </a:lnTo>
                  <a:lnTo>
                    <a:pt x="171424" y="21361"/>
                  </a:lnTo>
                  <a:lnTo>
                    <a:pt x="126174" y="41224"/>
                  </a:lnTo>
                  <a:lnTo>
                    <a:pt x="87972" y="67017"/>
                  </a:lnTo>
                  <a:lnTo>
                    <a:pt x="56756" y="98298"/>
                  </a:lnTo>
                  <a:lnTo>
                    <a:pt x="32435" y="134594"/>
                  </a:lnTo>
                  <a:lnTo>
                    <a:pt x="14960" y="175475"/>
                  </a:lnTo>
                  <a:lnTo>
                    <a:pt x="4254" y="220459"/>
                  </a:lnTo>
                  <a:lnTo>
                    <a:pt x="254" y="269113"/>
                  </a:lnTo>
                  <a:lnTo>
                    <a:pt x="177" y="308610"/>
                  </a:lnTo>
                  <a:lnTo>
                    <a:pt x="0" y="308610"/>
                  </a:lnTo>
                  <a:lnTo>
                    <a:pt x="0" y="411480"/>
                  </a:lnTo>
                  <a:lnTo>
                    <a:pt x="0" y="537210"/>
                  </a:lnTo>
                  <a:lnTo>
                    <a:pt x="434340" y="537210"/>
                  </a:lnTo>
                  <a:lnTo>
                    <a:pt x="560070" y="537210"/>
                  </a:lnTo>
                  <a:lnTo>
                    <a:pt x="2045970" y="537210"/>
                  </a:lnTo>
                  <a:lnTo>
                    <a:pt x="2148840" y="537210"/>
                  </a:lnTo>
                  <a:lnTo>
                    <a:pt x="2148840" y="536409"/>
                  </a:lnTo>
                  <a:lnTo>
                    <a:pt x="2208276" y="535940"/>
                  </a:lnTo>
                  <a:lnTo>
                    <a:pt x="2267851" y="529285"/>
                  </a:lnTo>
                  <a:lnTo>
                    <a:pt x="2320239" y="515785"/>
                  </a:lnTo>
                  <a:lnTo>
                    <a:pt x="2365514" y="495909"/>
                  </a:lnTo>
                  <a:lnTo>
                    <a:pt x="2403716" y="470103"/>
                  </a:lnTo>
                  <a:lnTo>
                    <a:pt x="2434945" y="438810"/>
                  </a:lnTo>
                  <a:lnTo>
                    <a:pt x="2459253" y="402501"/>
                  </a:lnTo>
                  <a:lnTo>
                    <a:pt x="2476703" y="361619"/>
                  </a:lnTo>
                  <a:lnTo>
                    <a:pt x="2487384" y="316636"/>
                  </a:lnTo>
                  <a:lnTo>
                    <a:pt x="2491359" y="267970"/>
                  </a:lnTo>
                  <a:lnTo>
                    <a:pt x="2491460" y="228600"/>
                  </a:lnTo>
                  <a:lnTo>
                    <a:pt x="2491740" y="228600"/>
                  </a:lnTo>
                  <a:lnTo>
                    <a:pt x="2491740" y="125730"/>
                  </a:lnTo>
                  <a:lnTo>
                    <a:pt x="2491740" y="0"/>
                  </a:lnTo>
                  <a:close/>
                </a:path>
              </a:pathLst>
            </a:custGeom>
            <a:solidFill>
              <a:srgbClr val="003B83"/>
            </a:solidFill>
          </p:spPr>
          <p:txBody>
            <a:bodyPr wrap="square" lIns="0" tIns="0" rIns="0" bIns="0" rtlCol="0"/>
            <a:lstStyle/>
            <a:p>
              <a:endParaRPr sz="1100"/>
            </a:p>
          </p:txBody>
        </p:sp>
        <p:sp>
          <p:nvSpPr>
            <p:cNvPr id="8" name="object 18">
              <a:extLst>
                <a:ext uri="{FF2B5EF4-FFF2-40B4-BE49-F238E27FC236}">
                  <a16:creationId xmlns:a16="http://schemas.microsoft.com/office/drawing/2014/main" id="{1717DE2C-44FF-B868-6EDE-D2BF3066DF9E}"/>
                </a:ext>
              </a:extLst>
            </p:cNvPr>
            <p:cNvSpPr txBox="1"/>
            <p:nvPr/>
          </p:nvSpPr>
          <p:spPr>
            <a:xfrm>
              <a:off x="6000386" y="1172736"/>
              <a:ext cx="1995805" cy="293670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0"/>
                </a:spcBef>
              </a:pPr>
              <a:r>
                <a:rPr spc="10" dirty="0">
                  <a:solidFill>
                    <a:srgbClr val="FFFFFF"/>
                  </a:solidFill>
                  <a:latin typeface="Arial"/>
                  <a:cs typeface="Arial"/>
                </a:rPr>
                <a:t>Ceremonies</a:t>
              </a:r>
              <a:endParaRPr dirty="0">
                <a:latin typeface="Arial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861891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7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759428"/>
          </a:xfrm>
          <a:prstGeom prst="rect">
            <a:avLst/>
          </a:prstGeom>
          <a:solidFill>
            <a:srgbClr val="00B0F0"/>
          </a:solidFill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br>
              <a:rPr lang="en-US" sz="4800" dirty="0">
                <a:latin typeface="Impact" panose="020B0806030902050204" pitchFamily="34" charset="0"/>
              </a:rPr>
            </a:br>
            <a:r>
              <a:rPr lang="en-US" sz="4800" dirty="0">
                <a:latin typeface="Impact" panose="020B0806030902050204" pitchFamily="34" charset="0"/>
              </a:rPr>
              <a:t>	</a:t>
            </a:r>
            <a:r>
              <a:rPr lang="en-US" b="1" dirty="0"/>
              <a:t>Sprint Planning</a:t>
            </a:r>
          </a:p>
        </p:txBody>
      </p:sp>
      <p:sp>
        <p:nvSpPr>
          <p:cNvPr id="595" name="Google Shape;595;p17"/>
          <p:cNvSpPr txBox="1">
            <a:spLocks noGrp="1"/>
          </p:cNvSpPr>
          <p:nvPr>
            <p:ph type="body" idx="1"/>
          </p:nvPr>
        </p:nvSpPr>
        <p:spPr>
          <a:xfrm>
            <a:off x="956520" y="1597936"/>
            <a:ext cx="10051619" cy="4806929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>
              <a:lnSpc>
                <a:spcPct val="200000"/>
              </a:lnSpc>
            </a:pPr>
            <a:r>
              <a:rPr lang="en-US" sz="2400" dirty="0">
                <a:latin typeface="Barlow" panose="020B0604020202020204" charset="0"/>
              </a:rPr>
              <a:t>Determine how much work can be accomplished in the upcoming sprint and answer “How do we do it”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Barlow" panose="020B0604020202020204" charset="0"/>
              </a:rPr>
              <a:t>Create the product backlog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Barlow" panose="020B0604020202020204" charset="0"/>
              </a:rPr>
              <a:t>Determine the sprint goal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Barlow" panose="020B0604020202020204" charset="0"/>
              </a:rPr>
              <a:t>Participants- Product owner, scrum master, scrum team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Barlow" panose="020B0604020202020204" charset="0"/>
              </a:rPr>
              <a:t>Output- Create sprint backlog</a:t>
            </a:r>
          </a:p>
        </p:txBody>
      </p:sp>
      <p:sp>
        <p:nvSpPr>
          <p:cNvPr id="596" name="Google Shape;596;p1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algn="r"/>
            <a:fld id="{00000000-1234-1234-1234-123412341234}" type="slidenum">
              <a:rPr lang="en"/>
              <a:pPr algn="r"/>
              <a:t>24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332583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7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759428"/>
          </a:xfrm>
          <a:prstGeom prst="rect">
            <a:avLst/>
          </a:prstGeom>
          <a:solidFill>
            <a:srgbClr val="00B0F0"/>
          </a:solidFill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br>
              <a:rPr lang="en-US" sz="4800" dirty="0">
                <a:latin typeface="Impact" panose="020B0806030902050204" pitchFamily="34" charset="0"/>
              </a:rPr>
            </a:br>
            <a:r>
              <a:rPr lang="en-US" sz="4800" dirty="0">
                <a:latin typeface="Impact" panose="020B0806030902050204" pitchFamily="34" charset="0"/>
              </a:rPr>
              <a:t>	</a:t>
            </a:r>
            <a:r>
              <a:rPr lang="en-US" b="1" dirty="0"/>
              <a:t>Daily Scrum</a:t>
            </a:r>
          </a:p>
        </p:txBody>
      </p:sp>
      <p:sp>
        <p:nvSpPr>
          <p:cNvPr id="595" name="Google Shape;595;p17"/>
          <p:cNvSpPr txBox="1">
            <a:spLocks noGrp="1"/>
          </p:cNvSpPr>
          <p:nvPr>
            <p:ph type="body" idx="1"/>
          </p:nvPr>
        </p:nvSpPr>
        <p:spPr>
          <a:xfrm>
            <a:off x="956520" y="1597936"/>
            <a:ext cx="10877848" cy="4806929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Barlow" panose="020B0604020202020204" charset="0"/>
              </a:rPr>
              <a:t>A brief standup meeting held daily with the scrum master and team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Barlow" panose="020B0604020202020204" charset="0"/>
              </a:rPr>
              <a:t>Enables to share progress and for scrum master to track progress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Barlow" panose="020B0604020202020204" charset="0"/>
              </a:rPr>
              <a:t>15 minutes maximum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Barlow" panose="020B0604020202020204" charset="0"/>
              </a:rPr>
              <a:t>Stands in a circle and reports 3 things</a:t>
            </a:r>
          </a:p>
          <a:p>
            <a:pPr lvl="1">
              <a:lnSpc>
                <a:spcPct val="150000"/>
              </a:lnSpc>
              <a:buChar char="▸"/>
            </a:pPr>
            <a:r>
              <a:rPr lang="en-US" sz="2000" dirty="0">
                <a:solidFill>
                  <a:srgbClr val="C00000"/>
                </a:solidFill>
                <a:latin typeface="Barlow" panose="020B0604020202020204" charset="0"/>
              </a:rPr>
              <a:t>What did I do since the last scrum meeting?</a:t>
            </a:r>
          </a:p>
          <a:p>
            <a:pPr lvl="1">
              <a:lnSpc>
                <a:spcPct val="150000"/>
              </a:lnSpc>
              <a:buChar char="▸"/>
            </a:pPr>
            <a:r>
              <a:rPr lang="en-US" sz="2000" dirty="0">
                <a:solidFill>
                  <a:srgbClr val="C00000"/>
                </a:solidFill>
                <a:latin typeface="Barlow" panose="020B0604020202020204" charset="0"/>
              </a:rPr>
              <a:t>What will I try to do by the next scrum meeting?</a:t>
            </a:r>
          </a:p>
          <a:p>
            <a:pPr lvl="1">
              <a:lnSpc>
                <a:spcPct val="150000"/>
              </a:lnSpc>
              <a:buChar char="▸"/>
            </a:pPr>
            <a:r>
              <a:rPr lang="en-US" sz="2000" dirty="0">
                <a:solidFill>
                  <a:srgbClr val="C00000"/>
                </a:solidFill>
                <a:latin typeface="Barlow" panose="020B0604020202020204" charset="0"/>
              </a:rPr>
              <a:t>What are the obstacles faced?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Barlow" panose="020B0604020202020204" charset="0"/>
              </a:rPr>
              <a:t>Listen. Do not debate.</a:t>
            </a:r>
          </a:p>
        </p:txBody>
      </p:sp>
      <p:sp>
        <p:nvSpPr>
          <p:cNvPr id="596" name="Google Shape;596;p1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algn="r"/>
            <a:fld id="{00000000-1234-1234-1234-123412341234}" type="slidenum">
              <a:rPr lang="en"/>
              <a:pPr algn="r"/>
              <a:t>25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312141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7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759428"/>
          </a:xfrm>
          <a:prstGeom prst="rect">
            <a:avLst/>
          </a:prstGeom>
          <a:solidFill>
            <a:srgbClr val="00B0F0"/>
          </a:solidFill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br>
              <a:rPr lang="en-US" sz="4800" dirty="0">
                <a:latin typeface="Impact" panose="020B0806030902050204" pitchFamily="34" charset="0"/>
              </a:rPr>
            </a:br>
            <a:r>
              <a:rPr lang="en-US" sz="4800" dirty="0">
                <a:latin typeface="Impact" panose="020B0806030902050204" pitchFamily="34" charset="0"/>
              </a:rPr>
              <a:t>	</a:t>
            </a:r>
            <a:r>
              <a:rPr lang="en-US" b="1" dirty="0"/>
              <a:t>Sprint Review</a:t>
            </a:r>
          </a:p>
        </p:txBody>
      </p:sp>
      <p:sp>
        <p:nvSpPr>
          <p:cNvPr id="595" name="Google Shape;595;p17"/>
          <p:cNvSpPr txBox="1">
            <a:spLocks noGrp="1"/>
          </p:cNvSpPr>
          <p:nvPr>
            <p:ph type="body" idx="1"/>
          </p:nvPr>
        </p:nvSpPr>
        <p:spPr>
          <a:xfrm>
            <a:off x="956520" y="1597936"/>
            <a:ext cx="10877848" cy="4806929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Barlow" panose="020B0604020202020204" charset="0"/>
              </a:rPr>
              <a:t>Team demonstrates the work completed during the sprint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Barlow" panose="020B0604020202020204" charset="0"/>
              </a:rPr>
              <a:t>Takes the form of a demo of new features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Barlow" panose="020B0604020202020204" charset="0"/>
              </a:rPr>
              <a:t>Informal meeting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Barlow" panose="020B0604020202020204" charset="0"/>
              </a:rPr>
              <a:t>Product owner approve or reject the work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Barlow" panose="020B0604020202020204" charset="0"/>
              </a:rPr>
              <a:t>Product owner gives the feedback for completed work</a:t>
            </a:r>
          </a:p>
        </p:txBody>
      </p:sp>
      <p:sp>
        <p:nvSpPr>
          <p:cNvPr id="596" name="Google Shape;596;p1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algn="r"/>
            <a:fld id="{00000000-1234-1234-1234-123412341234}" type="slidenum">
              <a:rPr lang="en"/>
              <a:pPr algn="r"/>
              <a:t>26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838542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7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759428"/>
          </a:xfrm>
          <a:prstGeom prst="rect">
            <a:avLst/>
          </a:prstGeom>
          <a:solidFill>
            <a:srgbClr val="00B0F0"/>
          </a:solidFill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br>
              <a:rPr lang="en-US" sz="4800" dirty="0">
                <a:latin typeface="Impact" panose="020B0806030902050204" pitchFamily="34" charset="0"/>
              </a:rPr>
            </a:br>
            <a:r>
              <a:rPr lang="en-US" sz="4800" dirty="0">
                <a:latin typeface="Impact" panose="020B0806030902050204" pitchFamily="34" charset="0"/>
              </a:rPr>
              <a:t>	</a:t>
            </a:r>
            <a:r>
              <a:rPr lang="en-US" b="1" dirty="0"/>
              <a:t>Sprint Retrospective</a:t>
            </a:r>
          </a:p>
        </p:txBody>
      </p:sp>
      <p:sp>
        <p:nvSpPr>
          <p:cNvPr id="595" name="Google Shape;595;p17"/>
          <p:cNvSpPr txBox="1">
            <a:spLocks noGrp="1"/>
          </p:cNvSpPr>
          <p:nvPr>
            <p:ph type="body" idx="1"/>
          </p:nvPr>
        </p:nvSpPr>
        <p:spPr>
          <a:xfrm>
            <a:off x="956520" y="1597936"/>
            <a:ext cx="10877848" cy="4806929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Barlow" panose="020B0604020202020204" charset="0"/>
              </a:rPr>
              <a:t>Discuss what went well and what could be better for improvements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Barlow" panose="020B0604020202020204" charset="0"/>
              </a:rPr>
              <a:t>What should be continued, started or stopped.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Barlow" panose="020B0604020202020204" charset="0"/>
              </a:rPr>
              <a:t>15-30 minutes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Barlow" panose="020B0604020202020204" charset="0"/>
              </a:rPr>
              <a:t>Done after every sprint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Barlow" panose="020B0604020202020204" charset="0"/>
              </a:rPr>
              <a:t>Use whiteboards, sticky notes, flipcharts</a:t>
            </a:r>
          </a:p>
        </p:txBody>
      </p:sp>
      <p:sp>
        <p:nvSpPr>
          <p:cNvPr id="596" name="Google Shape;596;p1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algn="r"/>
            <a:fld id="{00000000-1234-1234-1234-123412341234}" type="slidenum">
              <a:rPr lang="en"/>
              <a:pPr algn="r"/>
              <a:t>27</a:t>
            </a:fld>
            <a:endParaRPr dirty="0"/>
          </a:p>
        </p:txBody>
      </p:sp>
      <p:sp>
        <p:nvSpPr>
          <p:cNvPr id="5" name="object 3"/>
          <p:cNvSpPr/>
          <p:nvPr/>
        </p:nvSpPr>
        <p:spPr>
          <a:xfrm>
            <a:off x="7022593" y="3868928"/>
            <a:ext cx="5169408" cy="29890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984830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BBFC6-F112-3E5B-2B6E-E7AC36634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2D73F-A026-501C-4DE9-CCD5C5969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82683"/>
            <a:ext cx="12192000" cy="1325563"/>
          </a:xfrm>
          <a:solidFill>
            <a:srgbClr val="252D67"/>
          </a:solidFill>
          <a:ln>
            <a:solidFill>
              <a:srgbClr val="252D67"/>
            </a:solidFill>
          </a:ln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Agile Project planning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02E18-32FF-149C-F5F2-9A0642697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5471D-285B-4994-B2D3-AE4C0A76F354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1979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0F102-4CAA-3D4E-C7BF-231E6D5FB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Traditional Vs. Agile Planning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1B988-B0EF-FCB2-67A0-67B8AA76C6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78642" cy="4351338"/>
          </a:xfrm>
        </p:spPr>
        <p:txBody>
          <a:bodyPr/>
          <a:lstStyle/>
          <a:p>
            <a:r>
              <a:rPr lang="en-US" dirty="0"/>
              <a:t>Agile planning is iterative, not one-time</a:t>
            </a:r>
          </a:p>
          <a:p>
            <a:r>
              <a:rPr lang="en-US" dirty="0"/>
              <a:t>Planning starts with:</a:t>
            </a:r>
          </a:p>
          <a:p>
            <a:pPr lvl="1"/>
            <a:r>
              <a:rPr lang="en-US" dirty="0"/>
              <a:t>Problem Identification</a:t>
            </a:r>
          </a:p>
          <a:p>
            <a:pPr lvl="1"/>
            <a:r>
              <a:rPr lang="en-US" dirty="0"/>
              <a:t>Product Vision</a:t>
            </a:r>
          </a:p>
          <a:p>
            <a:pPr lvl="1"/>
            <a:r>
              <a:rPr lang="en-US" dirty="0"/>
              <a:t>Product Backlog</a:t>
            </a:r>
          </a:p>
          <a:p>
            <a:r>
              <a:rPr lang="en-US" dirty="0"/>
              <a:t>Planning continues through:</a:t>
            </a:r>
          </a:p>
          <a:p>
            <a:pPr lvl="1"/>
            <a:r>
              <a:rPr lang="en-US" dirty="0"/>
              <a:t>Sprint Planning</a:t>
            </a:r>
          </a:p>
          <a:p>
            <a:pPr lvl="1"/>
            <a:r>
              <a:rPr lang="en-US" dirty="0"/>
              <a:t>Reviews &amp; Retrospectives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995BBF-8D25-0401-C83F-CB8A0EBCB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5471D-285B-4994-B2D3-AE4C0A76F354}" type="slidenum">
              <a:rPr lang="en-US" smtClean="0"/>
              <a:t>29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1D18BEE-1D3C-367D-E2DA-2938D23873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14"/>
          <a:stretch>
            <a:fillRect/>
          </a:stretch>
        </p:blipFill>
        <p:spPr>
          <a:xfrm>
            <a:off x="8167137" y="3619915"/>
            <a:ext cx="3786738" cy="26133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362A866-D153-09FC-0B04-513D5132B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612" y="58466"/>
            <a:ext cx="3754792" cy="319852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554174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3471F-904D-1671-0FB2-D10E46C25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35BEE-CA9C-376D-BF91-8CDDC3B74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b="1" dirty="0"/>
              <a:t>Let’s apply the Scrum basics learned above to prepare for Sprint 0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F34E345-D050-F721-FF9D-6222C356D6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838200" y="1825625"/>
            <a:ext cx="10515600" cy="4351338"/>
          </a:xfr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7D1A65-2CD6-A097-63D3-C255331DB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0975" y="6492875"/>
            <a:ext cx="6858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F15471D-285B-4994-B2D3-AE4C0A76F354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7423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719D4-5992-0742-7E59-9B2DEADA6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b="1" dirty="0"/>
              <a:t>What Sprint 0 should achieve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C1510-8423-79FD-809B-5D42E0BE40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391274" cy="4351338"/>
          </a:xfrm>
        </p:spPr>
        <p:txBody>
          <a:bodyPr>
            <a:normAutofit/>
          </a:bodyPr>
          <a:lstStyle/>
          <a:p>
            <a:r>
              <a:rPr lang="en-US" dirty="0"/>
              <a:t>Sprint 0 is a </a:t>
            </a:r>
            <a:r>
              <a:rPr lang="en-US" b="1" dirty="0"/>
              <a:t>preparation sprint </a:t>
            </a:r>
            <a:r>
              <a:rPr lang="en-US" dirty="0"/>
              <a:t>to start Sprint 1 successfully</a:t>
            </a:r>
          </a:p>
          <a:p>
            <a:r>
              <a:rPr lang="en-US" dirty="0"/>
              <a:t>No production code delivery </a:t>
            </a:r>
          </a:p>
          <a:p>
            <a:r>
              <a:rPr lang="en-US" dirty="0"/>
              <a:t>Focuses on:</a:t>
            </a:r>
          </a:p>
          <a:p>
            <a:pPr lvl="1"/>
            <a:r>
              <a:rPr lang="en-US" sz="2800" dirty="0"/>
              <a:t>Problem</a:t>
            </a:r>
          </a:p>
          <a:p>
            <a:pPr lvl="1"/>
            <a:r>
              <a:rPr lang="en-US" sz="2800" dirty="0"/>
              <a:t>Vision</a:t>
            </a:r>
          </a:p>
          <a:p>
            <a:pPr lvl="1"/>
            <a:r>
              <a:rPr lang="en-US" sz="2800" dirty="0"/>
              <a:t>Backlog</a:t>
            </a:r>
          </a:p>
          <a:p>
            <a:pPr lvl="1"/>
            <a:r>
              <a:rPr lang="en-US" sz="2800" dirty="0"/>
              <a:t>DoD</a:t>
            </a:r>
          </a:p>
          <a:p>
            <a:pPr lvl="1"/>
            <a:r>
              <a:rPr lang="en-US" sz="2800" dirty="0"/>
              <a:t>Planning</a:t>
            </a:r>
          </a:p>
        </p:txBody>
      </p:sp>
      <p:pic>
        <p:nvPicPr>
          <p:cNvPr id="6" name="Picture 5" descr="Runners at a starting line">
            <a:extLst>
              <a:ext uri="{FF2B5EF4-FFF2-40B4-BE49-F238E27FC236}">
                <a16:creationId xmlns:a16="http://schemas.microsoft.com/office/drawing/2014/main" id="{83A358F7-B509-1B9E-DF26-B94637552BE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14301" y="3429000"/>
            <a:ext cx="4006235" cy="2834411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DDDC0C-3172-8E6C-D159-F0812298D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9074" y="6480175"/>
            <a:ext cx="542925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F15471D-285B-4994-B2D3-AE4C0A76F354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392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96081-2106-06AF-C821-DAF23A98D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b="1" dirty="0"/>
              <a:t>Sprint 0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23B48-24BD-C834-0EF8-EDED9E4BC6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By the end of Sprint 0, the team should have:</a:t>
            </a:r>
          </a:p>
          <a:p>
            <a:pPr lvl="1"/>
            <a:r>
              <a:rPr lang="en-US" sz="2800" dirty="0"/>
              <a:t>Identified the real user problem</a:t>
            </a:r>
          </a:p>
          <a:p>
            <a:pPr lvl="1"/>
            <a:r>
              <a:rPr lang="en-US" sz="2800" dirty="0"/>
              <a:t>A clear Product Vision</a:t>
            </a:r>
          </a:p>
          <a:p>
            <a:pPr lvl="1"/>
            <a:r>
              <a:rPr lang="en-US" sz="2800" dirty="0"/>
              <a:t>Identified stakeholders</a:t>
            </a:r>
          </a:p>
          <a:p>
            <a:pPr lvl="1"/>
            <a:r>
              <a:rPr lang="en-US" sz="2800" dirty="0"/>
              <a:t>Initial Product Backlog</a:t>
            </a:r>
          </a:p>
          <a:p>
            <a:pPr lvl="1"/>
            <a:r>
              <a:rPr lang="en-US" sz="2800" dirty="0"/>
              <a:t>Epics &amp; user stories</a:t>
            </a:r>
          </a:p>
          <a:p>
            <a:pPr lvl="1"/>
            <a:r>
              <a:rPr lang="en-US" sz="2800" dirty="0"/>
              <a:t>Defined Definition of Done</a:t>
            </a:r>
          </a:p>
          <a:p>
            <a:pPr lvl="1"/>
            <a:r>
              <a:rPr lang="en-US" sz="2800" dirty="0"/>
              <a:t>High-level sprint plan</a:t>
            </a:r>
          </a:p>
        </p:txBody>
      </p:sp>
      <p:pic>
        <p:nvPicPr>
          <p:cNvPr id="6" name="Picture 5" descr="Close up of bullseye">
            <a:extLst>
              <a:ext uri="{FF2B5EF4-FFF2-40B4-BE49-F238E27FC236}">
                <a16:creationId xmlns:a16="http://schemas.microsoft.com/office/drawing/2014/main" id="{0927B46E-A2F1-D638-41A3-49C1893C2E8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>
            <a:fillRect/>
          </a:stretch>
        </p:blipFill>
        <p:spPr>
          <a:xfrm>
            <a:off x="6172200" y="1825625"/>
            <a:ext cx="5181600" cy="4351338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2E3CE-2A9D-15BF-1592-031BE47F5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9074" y="6480175"/>
            <a:ext cx="542925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F15471D-285B-4994-B2D3-AE4C0A76F354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6116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EC3CB-CA85-F209-883A-9E4A5DA79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ifferent colored question marks">
            <a:extLst>
              <a:ext uri="{FF2B5EF4-FFF2-40B4-BE49-F238E27FC236}">
                <a16:creationId xmlns:a16="http://schemas.microsoft.com/office/drawing/2014/main" id="{4C4D998C-B34A-4D08-0679-83A4E92DEF6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16041" y="260527"/>
            <a:ext cx="12191999" cy="14976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5C3BE5-7108-CBC8-4E4D-BA85B1764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b="1" dirty="0"/>
              <a:t>Sprint 0 Deliverable : Problem Identification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9BDE9-8F43-0B11-728F-A6526D4B05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134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Clearly defines the real-world problem</a:t>
            </a:r>
          </a:p>
          <a:p>
            <a:r>
              <a:rPr lang="en-US" dirty="0"/>
              <a:t>Focuses on:</a:t>
            </a:r>
          </a:p>
          <a:p>
            <a:pPr lvl="1"/>
            <a:r>
              <a:rPr lang="en-US" dirty="0"/>
              <a:t>Who is affected?</a:t>
            </a:r>
          </a:p>
          <a:p>
            <a:pPr lvl="1"/>
            <a:r>
              <a:rPr lang="en-US" dirty="0"/>
              <a:t>What pain exists?</a:t>
            </a:r>
          </a:p>
          <a:p>
            <a:pPr lvl="1"/>
            <a:r>
              <a:rPr lang="en-US" dirty="0"/>
              <a:t>Why it matters?</a:t>
            </a:r>
          </a:p>
          <a:p>
            <a:pPr marL="228600" lvl="1">
              <a:spcBef>
                <a:spcPts val="1000"/>
              </a:spcBef>
            </a:pPr>
            <a:r>
              <a:rPr lang="en-US" sz="2800" dirty="0"/>
              <a:t>Forms the foundation for vision and backlog</a:t>
            </a:r>
          </a:p>
          <a:p>
            <a:pPr marL="228600" lvl="1">
              <a:spcBef>
                <a:spcPts val="1000"/>
              </a:spcBef>
            </a:pPr>
            <a:r>
              <a:rPr lang="en-US" sz="2800" dirty="0"/>
              <a:t>Avoids solutions</a:t>
            </a:r>
          </a:p>
          <a:p>
            <a:pPr marL="228600" lvl="1">
              <a:spcBef>
                <a:spcPts val="1000"/>
              </a:spcBef>
            </a:pPr>
            <a:endParaRPr lang="en-US" sz="2800" dirty="0"/>
          </a:p>
          <a:p>
            <a:pPr marL="228600" lvl="1">
              <a:spcBef>
                <a:spcPts val="1000"/>
              </a:spcBef>
            </a:pPr>
            <a:r>
              <a:rPr lang="en-US" sz="2800" dirty="0"/>
              <a:t>Template : </a:t>
            </a:r>
            <a:r>
              <a:rPr lang="en-US" sz="2800" i="1" dirty="0"/>
              <a:t>Currently, </a:t>
            </a:r>
            <a:r>
              <a:rPr lang="en-US" sz="2800" b="1" i="1" dirty="0"/>
              <a:t>[user] </a:t>
            </a:r>
            <a:r>
              <a:rPr lang="en-US" sz="2800" i="1" dirty="0"/>
              <a:t>struggles with </a:t>
            </a:r>
            <a:r>
              <a:rPr lang="en-US" sz="2800" b="1" i="1" dirty="0"/>
              <a:t>[problem], </a:t>
            </a:r>
            <a:r>
              <a:rPr lang="en-US" sz="2800" i="1" dirty="0"/>
              <a:t>resulting in </a:t>
            </a:r>
            <a:r>
              <a:rPr lang="en-US" sz="2800" b="1" i="1" dirty="0"/>
              <a:t>[impact].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624198-D70F-99B5-ACE8-B0DE2E462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9074" y="6480175"/>
            <a:ext cx="542925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F15471D-285B-4994-B2D3-AE4C0A76F354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6176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846BA-2DD0-8C60-6F26-8CC1F629F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usinesswoman looking out of window">
            <a:extLst>
              <a:ext uri="{FF2B5EF4-FFF2-40B4-BE49-F238E27FC236}">
                <a16:creationId xmlns:a16="http://schemas.microsoft.com/office/drawing/2014/main" id="{BC7C49E7-23F6-B8E6-8A5C-B37B6A6530E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8622" y="257352"/>
            <a:ext cx="12142544" cy="14976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B8C3ACC-396E-6E28-3136-FB262E473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49000" cy="1325563"/>
          </a:xfrm>
        </p:spPr>
        <p:txBody>
          <a:bodyPr anchor="ctr">
            <a:normAutofit/>
          </a:bodyPr>
          <a:lstStyle/>
          <a:p>
            <a:r>
              <a:rPr lang="en-US" b="1" dirty="0"/>
              <a:t>Sprint 0 Deliverable : Product Vision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DD7FF-6B4C-161E-42C0-307D400964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134600" cy="4351338"/>
          </a:xfrm>
        </p:spPr>
        <p:txBody>
          <a:bodyPr>
            <a:normAutofit fontScale="92500" lnSpcReduction="20000"/>
          </a:bodyPr>
          <a:lstStyle/>
          <a:p>
            <a:pPr marL="228600" lvl="1">
              <a:spcBef>
                <a:spcPts val="1000"/>
              </a:spcBef>
            </a:pPr>
            <a:r>
              <a:rPr lang="en-US" sz="3000" dirty="0"/>
              <a:t>Describes the purpose and value of the product</a:t>
            </a:r>
          </a:p>
          <a:p>
            <a:pPr marL="228600" lvl="1">
              <a:spcBef>
                <a:spcPts val="1000"/>
              </a:spcBef>
            </a:pPr>
            <a:r>
              <a:rPr lang="en-US" sz="3000" dirty="0"/>
              <a:t>Aligns stakeholders around a common goal</a:t>
            </a:r>
          </a:p>
          <a:p>
            <a:pPr marL="228600" lvl="1">
              <a:spcBef>
                <a:spcPts val="1000"/>
              </a:spcBef>
            </a:pPr>
            <a:r>
              <a:rPr lang="en-US" sz="3000" dirty="0"/>
              <a:t>Guides backlog creation and prioritization</a:t>
            </a:r>
          </a:p>
          <a:p>
            <a:pPr marL="228600" lvl="1">
              <a:spcBef>
                <a:spcPts val="1000"/>
              </a:spcBef>
            </a:pPr>
            <a:r>
              <a:rPr lang="en-US" sz="3000" dirty="0"/>
              <a:t>Describes:</a:t>
            </a:r>
          </a:p>
          <a:p>
            <a:pPr marL="685800" lvl="2">
              <a:spcBef>
                <a:spcPts val="1000"/>
              </a:spcBef>
            </a:pPr>
            <a:r>
              <a:rPr lang="en-US" sz="3000" dirty="0"/>
              <a:t>Who the product is for</a:t>
            </a:r>
          </a:p>
          <a:p>
            <a:pPr marL="685800" lvl="2">
              <a:spcBef>
                <a:spcPts val="1000"/>
              </a:spcBef>
            </a:pPr>
            <a:r>
              <a:rPr lang="en-US" sz="3000" dirty="0"/>
              <a:t>What problem it solves</a:t>
            </a:r>
          </a:p>
          <a:p>
            <a:pPr marL="685800" lvl="2">
              <a:spcBef>
                <a:spcPts val="1000"/>
              </a:spcBef>
            </a:pPr>
            <a:r>
              <a:rPr lang="en-US" sz="3000" dirty="0"/>
              <a:t>Why it is valuable</a:t>
            </a:r>
          </a:p>
          <a:p>
            <a:pPr marL="457200" lvl="2" indent="0">
              <a:spcBef>
                <a:spcPts val="1000"/>
              </a:spcBef>
              <a:buNone/>
            </a:pPr>
            <a:endParaRPr lang="en-US" sz="2800" dirty="0"/>
          </a:p>
          <a:p>
            <a:pPr marL="228600" lvl="1">
              <a:spcBef>
                <a:spcPts val="1000"/>
              </a:spcBef>
            </a:pPr>
            <a:r>
              <a:rPr lang="en-US" sz="3000" dirty="0"/>
              <a:t>Template : </a:t>
            </a:r>
            <a:r>
              <a:rPr lang="en-US" sz="3000" i="1" dirty="0"/>
              <a:t>For </a:t>
            </a:r>
            <a:r>
              <a:rPr lang="en-US" sz="3000" b="1" i="1" dirty="0"/>
              <a:t>[target users] </a:t>
            </a:r>
            <a:r>
              <a:rPr lang="en-US" sz="3000" i="1" dirty="0"/>
              <a:t>Who </a:t>
            </a:r>
            <a:r>
              <a:rPr lang="en-US" sz="3000" b="1" i="1" dirty="0"/>
              <a:t>[have a problem] </a:t>
            </a:r>
            <a:r>
              <a:rPr lang="en-US" sz="3000" i="1" dirty="0"/>
              <a:t>The product </a:t>
            </a:r>
            <a:r>
              <a:rPr lang="en-US" sz="3000" b="1" i="1" dirty="0"/>
              <a:t>[name] </a:t>
            </a:r>
            <a:r>
              <a:rPr lang="en-US" sz="3000" i="1" dirty="0"/>
              <a:t>Provides </a:t>
            </a:r>
            <a:r>
              <a:rPr lang="en-US" sz="3000" b="1" i="1" dirty="0"/>
              <a:t>[key benefit]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A6FEC0-0541-F7F5-E2F4-4C063B500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9074" y="6480175"/>
            <a:ext cx="542925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F15471D-285B-4994-B2D3-AE4C0A76F354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459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68809-F0F6-A862-8DC0-67A7EF93F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Rows of colorful paper chain people">
            <a:extLst>
              <a:ext uri="{FF2B5EF4-FFF2-40B4-BE49-F238E27FC236}">
                <a16:creationId xmlns:a16="http://schemas.microsoft.com/office/drawing/2014/main" id="{F5A14D9D-D81B-2FC4-0C9E-5508D8DF7F9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47341" y="257352"/>
            <a:ext cx="12226522" cy="14976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69032E7-3A7B-B9DC-DAAE-E0B0FC5CE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b="1" dirty="0"/>
              <a:t>Sprint 0 Deliverables :  Stakeholders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EF79D-C65C-13F2-BCC5-5E6380F743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134600" cy="4351338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</a:pPr>
            <a:r>
              <a:rPr lang="en-US" sz="2800" dirty="0"/>
              <a:t>Identifies individuals or groups affected by the system</a:t>
            </a:r>
          </a:p>
          <a:p>
            <a:pPr marL="228600" lvl="1">
              <a:spcBef>
                <a:spcPts val="1000"/>
              </a:spcBef>
            </a:pPr>
            <a:r>
              <a:rPr lang="en-US" sz="2800" dirty="0"/>
              <a:t>Primary stakeholders directly use the system</a:t>
            </a:r>
          </a:p>
          <a:p>
            <a:pPr marL="228600" lvl="1">
              <a:spcBef>
                <a:spcPts val="1000"/>
              </a:spcBef>
            </a:pPr>
            <a:r>
              <a:rPr lang="en-US" sz="2800" dirty="0"/>
              <a:t>Secondary stakeholders support or influence usage</a:t>
            </a:r>
          </a:p>
          <a:p>
            <a:pPr marL="228600" lvl="1">
              <a:spcBef>
                <a:spcPts val="1000"/>
              </a:spcBef>
            </a:pPr>
            <a:r>
              <a:rPr lang="en-US" sz="2800" dirty="0"/>
              <a:t>Ensures requirements reflect real needs</a:t>
            </a:r>
          </a:p>
          <a:p>
            <a:pPr marL="228600" lvl="1">
              <a:spcBef>
                <a:spcPts val="1000"/>
              </a:spcBef>
            </a:pPr>
            <a:endParaRPr lang="en-US" sz="2800" b="1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09C0C3-FEDB-321E-F688-69ACE5536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9074" y="6480175"/>
            <a:ext cx="542925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F15471D-285B-4994-B2D3-AE4C0A76F354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9919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A4EEB-860E-AB27-0D5E-3C2725CDD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ooks on a shelf">
            <a:extLst>
              <a:ext uri="{FF2B5EF4-FFF2-40B4-BE49-F238E27FC236}">
                <a16:creationId xmlns:a16="http://schemas.microsoft.com/office/drawing/2014/main" id="{58AA668D-6A64-27D1-FD39-FEA2A3D0306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7341" y="257352"/>
            <a:ext cx="12226522" cy="14976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5551E6E-7D12-1B6E-B92C-1E38E15E9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b="1" dirty="0"/>
              <a:t>Sprint 0 Deliverables : Epics &amp; User Stories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5D645-8285-3785-8BF7-40C9CCE25B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134600" cy="4351338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</a:pPr>
            <a:r>
              <a:rPr lang="en-US" sz="2800" dirty="0"/>
              <a:t>Epics represent large functional goals</a:t>
            </a:r>
          </a:p>
          <a:p>
            <a:pPr marL="228600" lvl="1">
              <a:spcBef>
                <a:spcPts val="1000"/>
              </a:spcBef>
            </a:pPr>
            <a:r>
              <a:rPr lang="en-US" sz="2800" dirty="0"/>
              <a:t>User stories break Epics into manageable pieces</a:t>
            </a:r>
          </a:p>
          <a:p>
            <a:pPr marL="228600" lvl="1">
              <a:spcBef>
                <a:spcPts val="1000"/>
              </a:spcBef>
            </a:pPr>
            <a:r>
              <a:rPr lang="en-US" sz="2800" dirty="0"/>
              <a:t>User stories drive Sprint Planning</a:t>
            </a:r>
          </a:p>
          <a:p>
            <a:pPr marL="0" lvl="1" indent="0">
              <a:spcBef>
                <a:spcPts val="1000"/>
              </a:spcBef>
              <a:buNone/>
            </a:pPr>
            <a:endParaRPr lang="en-US" sz="2800" b="1" i="1" dirty="0"/>
          </a:p>
          <a:p>
            <a:pPr marL="0" lvl="1" indent="0">
              <a:spcBef>
                <a:spcPts val="1000"/>
              </a:spcBef>
              <a:buNone/>
            </a:pPr>
            <a:r>
              <a:rPr lang="en-US" sz="2800" dirty="0"/>
              <a:t>User Story Template: </a:t>
            </a:r>
            <a:r>
              <a:rPr lang="en-US" sz="2800" i="1" dirty="0"/>
              <a:t>As a </a:t>
            </a:r>
            <a:r>
              <a:rPr lang="en-US" sz="2800" b="1" i="1" dirty="0"/>
              <a:t>[user], </a:t>
            </a:r>
            <a:r>
              <a:rPr lang="en-US" sz="2800" i="1" dirty="0"/>
              <a:t>I want </a:t>
            </a:r>
            <a:r>
              <a:rPr lang="en-US" sz="2800" b="1" i="1" dirty="0"/>
              <a:t>[feature], </a:t>
            </a:r>
            <a:r>
              <a:rPr lang="en-US" sz="2800" i="1" dirty="0"/>
              <a:t>so that </a:t>
            </a:r>
            <a:r>
              <a:rPr lang="en-US" sz="2800" b="1" i="1" dirty="0"/>
              <a:t>[benefit]</a:t>
            </a:r>
          </a:p>
          <a:p>
            <a:pPr marL="0" lvl="1" indent="0">
              <a:spcBef>
                <a:spcPts val="1000"/>
              </a:spcBef>
              <a:buNone/>
            </a:pPr>
            <a:endParaRPr lang="en-US" sz="2800" b="1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E20E43-A708-4AD1-62AB-DE8C57138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9074" y="6480175"/>
            <a:ext cx="542925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F15471D-285B-4994-B2D3-AE4C0A76F354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2363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8408C-A250-69F0-9646-A7D7516F4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ooks on a shelf">
            <a:extLst>
              <a:ext uri="{FF2B5EF4-FFF2-40B4-BE49-F238E27FC236}">
                <a16:creationId xmlns:a16="http://schemas.microsoft.com/office/drawing/2014/main" id="{7ECC8C80-4081-1A92-FC69-EEFC3A9362C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7341" y="257352"/>
            <a:ext cx="12226522" cy="14976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28E3B-9430-B153-3BD6-552979492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b="1" dirty="0"/>
              <a:t>Sprint 0 Deliverables : Epics &amp; User Stories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6F3D4-E575-5260-4BEF-6A1C62CCB8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134600" cy="4351338"/>
          </a:xfrm>
        </p:spPr>
        <p:txBody>
          <a:bodyPr>
            <a:normAutofit/>
          </a:bodyPr>
          <a:lstStyle/>
          <a:p>
            <a:pPr marL="0" lvl="1" indent="0">
              <a:spcBef>
                <a:spcPts val="1000"/>
              </a:spcBef>
              <a:buNone/>
            </a:pPr>
            <a:endParaRPr lang="en-US" sz="2800" b="1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372EB5-F451-6FF7-9513-3490325E2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9074" y="6480175"/>
            <a:ext cx="542925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F15471D-285B-4994-B2D3-AE4C0A76F354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37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FB6739-441E-E94A-5CC8-F3F35B7CA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663" y="1862756"/>
            <a:ext cx="9422807" cy="4024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9126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C3B7A-C741-9C71-BF8E-C6982355A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E752C72-2193-EDF3-F158-FD5374226F5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-47341" y="257352"/>
            <a:ext cx="12226522" cy="14976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90A70FC-5500-17B2-D2CC-1D41C213E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b="1" dirty="0"/>
              <a:t>Sprint 0 Deliverables : Initial Product Backlog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E814A-A07C-6A95-7F10-6D994B3E43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134600" cy="4351338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</a:pPr>
            <a:r>
              <a:rPr lang="en-US" sz="2800" dirty="0"/>
              <a:t>Ordered list of features and requirements</a:t>
            </a:r>
          </a:p>
          <a:p>
            <a:pPr marL="228600" lvl="1">
              <a:spcBef>
                <a:spcPts val="1000"/>
              </a:spcBef>
            </a:pPr>
            <a:r>
              <a:rPr lang="en-US" sz="2800" dirty="0"/>
              <a:t>Contains Epics, User Stories, and constraints</a:t>
            </a:r>
          </a:p>
          <a:p>
            <a:pPr marL="228600" lvl="1">
              <a:spcBef>
                <a:spcPts val="1000"/>
              </a:spcBef>
            </a:pPr>
            <a:r>
              <a:rPr lang="en-US" sz="2800" dirty="0"/>
              <a:t>Created collaboratively with Product Owner</a:t>
            </a:r>
          </a:p>
          <a:p>
            <a:pPr marL="228600" lvl="1">
              <a:spcBef>
                <a:spcPts val="1000"/>
              </a:spcBef>
            </a:pPr>
            <a:r>
              <a:rPr lang="en-US" sz="2800" dirty="0"/>
              <a:t>Backlog evolves throughout the project</a:t>
            </a:r>
          </a:p>
          <a:p>
            <a:pPr marL="0" lvl="1" indent="0">
              <a:spcBef>
                <a:spcPts val="1000"/>
              </a:spcBef>
              <a:buNone/>
            </a:pPr>
            <a:endParaRPr lang="en-US" sz="2800" b="1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1633A9-9DC5-5882-173E-0F8A77F51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9074" y="6480175"/>
            <a:ext cx="542925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F15471D-285B-4994-B2D3-AE4C0A76F354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0045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1AAE7-3D2E-913B-2C13-917E8129F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1FB9B72-09E0-657B-FC52-BC26C9FF980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40227" b="40227"/>
          <a:stretch/>
        </p:blipFill>
        <p:spPr>
          <a:xfrm>
            <a:off x="-47341" y="257352"/>
            <a:ext cx="12226522" cy="14976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A72938B-7A12-9ADF-E5C1-7BFB1C74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580" y="681037"/>
            <a:ext cx="3578525" cy="1325563"/>
          </a:xfrm>
        </p:spPr>
        <p:txBody>
          <a:bodyPr anchor="ctr">
            <a:normAutofit fontScale="90000"/>
          </a:bodyPr>
          <a:lstStyle/>
          <a:p>
            <a:r>
              <a:rPr lang="en-US" b="1" dirty="0"/>
              <a:t>Sprint 0 Deliverables :</a:t>
            </a:r>
            <a:br>
              <a:rPr lang="en-US" b="1" dirty="0"/>
            </a:br>
            <a:r>
              <a:rPr lang="en-US" b="1" dirty="0"/>
              <a:t> Initial Product Backlog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B642B-C030-78BF-9B93-646D8F668A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3088257"/>
            <a:ext cx="3910263" cy="3088706"/>
          </a:xfrm>
        </p:spPr>
        <p:txBody>
          <a:bodyPr>
            <a:normAutofit/>
          </a:bodyPr>
          <a:lstStyle/>
          <a:p>
            <a:pPr marL="0" lvl="1" indent="0">
              <a:spcBef>
                <a:spcPts val="1000"/>
              </a:spcBef>
              <a:buNone/>
            </a:pPr>
            <a:r>
              <a:rPr lang="en-US" sz="2800" b="1" i="1" dirty="0"/>
              <a:t>Example : Customer management </a:t>
            </a:r>
            <a:r>
              <a:rPr lang="en-US" sz="2800" b="1" i="1" dirty="0">
                <a:highlight>
                  <a:srgbClr val="FFFF00"/>
                </a:highlight>
              </a:rPr>
              <a:t>Epic</a:t>
            </a:r>
          </a:p>
          <a:p>
            <a:pPr marL="0" lvl="1" indent="0">
              <a:spcBef>
                <a:spcPts val="1000"/>
              </a:spcBef>
              <a:buNone/>
            </a:pPr>
            <a:r>
              <a:rPr lang="en-US" sz="2800" b="1" i="1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41B93D-1FDB-A846-20F2-2901455AD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9074" y="6480175"/>
            <a:ext cx="542925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F15471D-285B-4994-B2D3-AE4C0A76F354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39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CC0037-B524-3969-973E-DE41DC8D34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858" y="12700"/>
            <a:ext cx="6437943" cy="646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8059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7DFC9-6A03-D72A-67A1-6F5C67CC8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2F0F3FD-BDD3-DF2D-4468-33061B3B02D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40227" b="40227"/>
          <a:stretch/>
        </p:blipFill>
        <p:spPr>
          <a:xfrm>
            <a:off x="-47341" y="257352"/>
            <a:ext cx="12226522" cy="149763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F88BC-7D7D-B211-94A8-AB3A32F244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134600" cy="4351338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</a:pPr>
            <a:r>
              <a:rPr lang="en-US" sz="2800" dirty="0"/>
              <a:t>Shared agreement on when work is considered complete</a:t>
            </a:r>
          </a:p>
          <a:p>
            <a:pPr marL="228600" lvl="1">
              <a:spcBef>
                <a:spcPts val="1000"/>
              </a:spcBef>
            </a:pPr>
            <a:r>
              <a:rPr lang="en-US" sz="2800" dirty="0"/>
              <a:t>Ensures quality and consistency</a:t>
            </a:r>
          </a:p>
          <a:p>
            <a:pPr marL="228600" lvl="1">
              <a:spcBef>
                <a:spcPts val="1000"/>
              </a:spcBef>
            </a:pPr>
            <a:r>
              <a:rPr lang="en-US" sz="2800" dirty="0"/>
              <a:t>Applies to all user stories and increments</a:t>
            </a:r>
          </a:p>
          <a:p>
            <a:pPr marL="0" lvl="1" indent="0">
              <a:spcBef>
                <a:spcPts val="1000"/>
              </a:spcBef>
              <a:buNone/>
            </a:pPr>
            <a:endParaRPr lang="en-US" sz="2800" b="1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17CE1C-69ED-9624-F1EA-EFA81949D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9074" y="6480175"/>
            <a:ext cx="542925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F15471D-285B-4994-B2D3-AE4C0A76F354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40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BC333A-496C-BE4C-13B0-43CE0EDE1EB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59"/>
          <a:stretch>
            <a:fillRect/>
          </a:stretch>
        </p:blipFill>
        <p:spPr>
          <a:xfrm>
            <a:off x="7337913" y="257352"/>
            <a:ext cx="4854087" cy="14194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AF167BA-ACF1-14AD-5639-6192581B4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13168" cy="1325563"/>
          </a:xfrm>
        </p:spPr>
        <p:txBody>
          <a:bodyPr anchor="ctr">
            <a:normAutofit/>
          </a:bodyPr>
          <a:lstStyle/>
          <a:p>
            <a:r>
              <a:rPr lang="en-US" b="1" dirty="0"/>
              <a:t>Sprint 0 Deliverables : Definition of Done (DoD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397510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7B085-0AD3-864B-7E28-E2E379048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7C3CD4D-2CD9-9576-8BE4-DE1786C03EA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40227" b="40227"/>
          <a:stretch/>
        </p:blipFill>
        <p:spPr>
          <a:xfrm>
            <a:off x="-47341" y="257352"/>
            <a:ext cx="12226522" cy="149763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96724-EC88-AFE6-C631-B020823958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134600" cy="4351338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/>
              <a:t>Customer Management Epic</a:t>
            </a:r>
            <a:r>
              <a:rPr lang="en-US" dirty="0"/>
              <a:t> is considered </a:t>
            </a:r>
            <a:r>
              <a:rPr lang="en-US" b="1" dirty="0"/>
              <a:t>Done</a:t>
            </a:r>
            <a:r>
              <a:rPr lang="en-US" dirty="0"/>
              <a:t> when </a:t>
            </a:r>
            <a:r>
              <a:rPr lang="en-US" b="1" dirty="0"/>
              <a:t>all related user stories</a:t>
            </a:r>
            <a:r>
              <a:rPr lang="en-US" dirty="0"/>
              <a:t> meet the following criteria:</a:t>
            </a:r>
          </a:p>
          <a:p>
            <a:r>
              <a:rPr lang="en-US" b="1" dirty="0"/>
              <a:t>✔ Functional Completion</a:t>
            </a:r>
          </a:p>
          <a:p>
            <a:pPr lvl="1"/>
            <a:r>
              <a:rPr lang="en-US" dirty="0"/>
              <a:t>Customer can be </a:t>
            </a:r>
            <a:r>
              <a:rPr lang="en-US" b="1" dirty="0"/>
              <a:t>created, viewed, updated, and deactivated</a:t>
            </a:r>
            <a:endParaRPr lang="en-US" dirty="0"/>
          </a:p>
          <a:p>
            <a:pPr lvl="1"/>
            <a:r>
              <a:rPr lang="en-US" dirty="0"/>
              <a:t>Mandatory fields are validated (e.g., name, email)</a:t>
            </a:r>
          </a:p>
          <a:p>
            <a:pPr lvl="1"/>
            <a:r>
              <a:rPr lang="en-US" dirty="0"/>
              <a:t>Duplicate customer entries are prevented</a:t>
            </a:r>
          </a:p>
          <a:p>
            <a:r>
              <a:rPr lang="en-US" b="1" dirty="0"/>
              <a:t>✔ Quality &amp; Testing</a:t>
            </a:r>
          </a:p>
          <a:p>
            <a:pPr lvl="1"/>
            <a:r>
              <a:rPr lang="en-US" dirty="0"/>
              <a:t>All user stories are </a:t>
            </a:r>
            <a:r>
              <a:rPr lang="en-US" b="1" dirty="0"/>
              <a:t>implemented and tested</a:t>
            </a:r>
            <a:endParaRPr lang="en-US" dirty="0"/>
          </a:p>
          <a:p>
            <a:pPr lvl="1"/>
            <a:r>
              <a:rPr lang="en-US" dirty="0"/>
              <a:t>No critical or high-severity defects remain</a:t>
            </a:r>
          </a:p>
          <a:p>
            <a:pPr lvl="1"/>
            <a:r>
              <a:rPr lang="en-US" dirty="0"/>
              <a:t>Basic edge cases are handled (empty fields, invalid inputs)</a:t>
            </a:r>
          </a:p>
          <a:p>
            <a:r>
              <a:rPr lang="en-US" b="1" dirty="0"/>
              <a:t>✔ Integration</a:t>
            </a:r>
          </a:p>
          <a:p>
            <a:pPr lvl="1"/>
            <a:r>
              <a:rPr lang="en-US" dirty="0"/>
              <a:t>Customer data is </a:t>
            </a:r>
            <a:r>
              <a:rPr lang="en-US" b="1" dirty="0"/>
              <a:t>stored and retrieved correctly</a:t>
            </a:r>
            <a:endParaRPr lang="en-US" dirty="0"/>
          </a:p>
          <a:p>
            <a:pPr lvl="1"/>
            <a:r>
              <a:rPr lang="en-US" dirty="0"/>
              <a:t>Changes reflect correctly across the system</a:t>
            </a:r>
          </a:p>
          <a:p>
            <a:pPr lvl="1"/>
            <a:r>
              <a:rPr lang="en-US" dirty="0"/>
              <a:t>No broken links or navigation issues</a:t>
            </a:r>
          </a:p>
          <a:p>
            <a:r>
              <a:rPr lang="en-US" b="1" dirty="0"/>
              <a:t>✔ Documentation</a:t>
            </a:r>
          </a:p>
          <a:p>
            <a:pPr lvl="1"/>
            <a:r>
              <a:rPr lang="en-US" dirty="0"/>
              <a:t>User stories are updated with acceptance criteria</a:t>
            </a:r>
          </a:p>
          <a:p>
            <a:pPr lvl="1"/>
            <a:r>
              <a:rPr lang="en-US" dirty="0"/>
              <a:t>Basic user guide or help notes are completed</a:t>
            </a:r>
          </a:p>
          <a:p>
            <a:r>
              <a:rPr lang="en-US" b="1" dirty="0"/>
              <a:t>✔ Demo &amp; Acceptance</a:t>
            </a:r>
          </a:p>
          <a:p>
            <a:pPr lvl="1"/>
            <a:r>
              <a:rPr lang="en-US" dirty="0"/>
              <a:t>Functionality is </a:t>
            </a:r>
            <a:r>
              <a:rPr lang="en-US" b="1" dirty="0"/>
              <a:t>successfully demonstrated</a:t>
            </a:r>
            <a:endParaRPr lang="en-US" dirty="0"/>
          </a:p>
          <a:p>
            <a:pPr lvl="1"/>
            <a:r>
              <a:rPr lang="en-US" dirty="0"/>
              <a:t>Accepted by the </a:t>
            </a:r>
            <a:r>
              <a:rPr lang="en-US" b="1" dirty="0"/>
              <a:t>Product Owner</a:t>
            </a:r>
            <a:endParaRPr lang="en-US" dirty="0"/>
          </a:p>
          <a:p>
            <a:pPr lvl="1"/>
            <a:r>
              <a:rPr lang="en-US" dirty="0"/>
              <a:t>Meets the agreed Definition of Done checklist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F4208A-8A03-F50B-9235-D537D14C1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9074" y="6480175"/>
            <a:ext cx="542925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F15471D-285B-4994-B2D3-AE4C0A76F354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41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25F558-DA51-DE44-2444-A91D8625035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59"/>
          <a:stretch>
            <a:fillRect/>
          </a:stretch>
        </p:blipFill>
        <p:spPr>
          <a:xfrm>
            <a:off x="7337913" y="257352"/>
            <a:ext cx="4854087" cy="14194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D06CBB-CFE6-FD11-0315-EE768D434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13168" cy="1325563"/>
          </a:xfrm>
        </p:spPr>
        <p:txBody>
          <a:bodyPr anchor="ctr">
            <a:normAutofit/>
          </a:bodyPr>
          <a:lstStyle/>
          <a:p>
            <a:r>
              <a:rPr lang="en-US" b="1" dirty="0"/>
              <a:t>Sprint 0 Deliverables : Definition of Done (DoD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262583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58559-CE9A-4E3F-7CDD-6675F657E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C44C3-BFE5-E97B-0CA1-78EAD1818D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134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hlinkClick r:id="rId2"/>
              </a:rPr>
              <a:t>https://scrumguides.org/docs/scrumguide/v2020/2020-Scrum-Guide-US.pdf#zoom=100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Agile Estimating and Planning (Robert C. Martin Series) 1st Edition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B8848A-9AAC-EA3E-1E43-F481BBB72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9074" y="6480175"/>
            <a:ext cx="542925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F15471D-285B-4994-B2D3-AE4C0A76F354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42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9468A0-9DE6-32B8-790D-6CB882F73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1113168" cy="1325563"/>
          </a:xfrm>
        </p:spPr>
        <p:txBody>
          <a:bodyPr anchor="ctr">
            <a:normAutofit/>
          </a:bodyPr>
          <a:lstStyle/>
          <a:p>
            <a:r>
              <a:rPr lang="en-US" b="1" dirty="0"/>
              <a:t>References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39020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1337832b-e06e-4e87-85f5-ecfde68f9c8e}" enabled="1" method="Standard" siteId="{44e3cf94-19c9-4e32-96c3-14f5bf01391a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16760</TotalTime>
  <Words>1599</Words>
  <Application>Microsoft Office PowerPoint</Application>
  <PresentationFormat>Widescreen</PresentationFormat>
  <Paragraphs>282</Paragraphs>
  <Slides>42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2" baseType="lpstr">
      <vt:lpstr>Albertus</vt:lpstr>
      <vt:lpstr>Aptos</vt:lpstr>
      <vt:lpstr>Arial</vt:lpstr>
      <vt:lpstr>Barlow</vt:lpstr>
      <vt:lpstr>Calibri</vt:lpstr>
      <vt:lpstr>Calibri Light</vt:lpstr>
      <vt:lpstr>Impact</vt:lpstr>
      <vt:lpstr>Open Sans Bold</vt:lpstr>
      <vt:lpstr>Trebuchet MS</vt:lpstr>
      <vt:lpstr>Custom Design</vt:lpstr>
      <vt:lpstr>PowerPoint Presentation</vt:lpstr>
      <vt:lpstr>Session Objectives</vt:lpstr>
      <vt:lpstr>SCRUM</vt:lpstr>
      <vt:lpstr>SCRUM Framework </vt:lpstr>
      <vt:lpstr>SCRUM Framework</vt:lpstr>
      <vt:lpstr>PowerPoint Presentation</vt:lpstr>
      <vt:lpstr>  Product Owner</vt:lpstr>
      <vt:lpstr>  Scrum Master</vt:lpstr>
      <vt:lpstr>  Scrum Team</vt:lpstr>
      <vt:lpstr>PowerPoint Presentation</vt:lpstr>
      <vt:lpstr>  Sprint</vt:lpstr>
      <vt:lpstr>  Product Backlog</vt:lpstr>
      <vt:lpstr>  Product Backlog</vt:lpstr>
      <vt:lpstr>  User Stories</vt:lpstr>
      <vt:lpstr>  Sprint Backlog</vt:lpstr>
      <vt:lpstr>  Product Backlog</vt:lpstr>
      <vt:lpstr>  Sprint Backlog</vt:lpstr>
      <vt:lpstr>  Sprint Backlog</vt:lpstr>
      <vt:lpstr>  Burndown Chart</vt:lpstr>
      <vt:lpstr>  Burndown Chart</vt:lpstr>
      <vt:lpstr>  Increment</vt:lpstr>
      <vt:lpstr>  Increment</vt:lpstr>
      <vt:lpstr>PowerPoint Presentation</vt:lpstr>
      <vt:lpstr>  Sprint Planning</vt:lpstr>
      <vt:lpstr>  Daily Scrum</vt:lpstr>
      <vt:lpstr>  Sprint Review</vt:lpstr>
      <vt:lpstr>  Sprint Retrospective</vt:lpstr>
      <vt:lpstr>Agile Project planning </vt:lpstr>
      <vt:lpstr>Traditional Vs. Agile Planning </vt:lpstr>
      <vt:lpstr>Let’s apply the Scrum basics learned above to prepare for Sprint 0</vt:lpstr>
      <vt:lpstr>What Sprint 0 should achieve</vt:lpstr>
      <vt:lpstr>Sprint 0 objectives</vt:lpstr>
      <vt:lpstr>Sprint 0 Deliverable : Problem Identification</vt:lpstr>
      <vt:lpstr>Sprint 0 Deliverable : Product Vision Statement</vt:lpstr>
      <vt:lpstr>Sprint 0 Deliverables :  Stakeholders</vt:lpstr>
      <vt:lpstr>Sprint 0 Deliverables : Epics &amp; User Stories</vt:lpstr>
      <vt:lpstr>Sprint 0 Deliverables : Epics &amp; User Stories</vt:lpstr>
      <vt:lpstr>Sprint 0 Deliverables : Initial Product Backlog</vt:lpstr>
      <vt:lpstr>Sprint 0 Deliverables :  Initial Product Backlog</vt:lpstr>
      <vt:lpstr>Sprint 0 Deliverables : Definition of Done (DoD)</vt:lpstr>
      <vt:lpstr>Sprint 0 Deliverables : Definition of Done (DoD)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Rrubaa Panchendrarajan</dc:creator>
  <cp:lastModifiedBy>Narmada Gamage</cp:lastModifiedBy>
  <cp:revision>211</cp:revision>
  <dcterms:created xsi:type="dcterms:W3CDTF">2021-06-22T04:49:25Z</dcterms:created>
  <dcterms:modified xsi:type="dcterms:W3CDTF">2026-01-27T20:23:42Z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Custom Design:5</vt:lpwstr>
  </property>
  <property fmtid="{D5CDD505-2E9C-101B-9397-08002B2CF9AE}" pid="3" name="ClassificationContentMarkingFooterText">
    <vt:lpwstr>Classification: Public-SLIIT</vt:lpwstr>
  </property>
</Properties>
</file>